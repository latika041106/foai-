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3F1FF"/>
                </a:solidFill>
                <a:latin typeface="Calibri"/>
              </a:defRPr>
            </a:pPr>
            <a:r>
              <a:rPr sz="1100" b="0" i="0" u="none" strike="noStrike">
                <a:solidFill>
                  <a:srgbClr val="F3F1FF"/>
                </a:solidFill>
                <a:latin typeface="Calibri"/>
              </a:rPr>
              <a:t>100 battles per AI, same seeds and same player AI — lower repetition and gap is better</a:t>
            </a:r>
          </a:p>
        </c:rich>
      </c:tx>
      <c:layout/>
      <c:overlay val="0"/>
    </c:title>
    <c:autoTitleDeleted val="0"/>
    <c:plotArea>
      <c:layout/>
      <c:barChart>
        <c:barDir val="col"/>
        <c:grouping val="clustered"/>
        <c:varyColors val="0"/>
        <c:ser>
          <c:idx val="0"/>
          <c:order val="0"/>
          <c:tx>
            <c:strRef>
              <c:f>Sheet1!$B$1</c:f>
              <c:strCache>
                <c:ptCount val="1"/>
                <c:pt idx="0">
                  <c:v>Scripted Baseline</c:v>
                </c:pt>
              </c:strCache>
            </c:strRef>
          </c:tx>
          <c:spPr>
            <a:solidFill>
              <a:srgbClr val="ABA6D6"/>
            </a:solidFill>
            <a:effectLst/>
          </c:spPr>
          <c:invertIfNegative val="0"/>
          <c:dLbls>
            <c:numFmt formatCode="#,##0" sourceLinked="0"/>
            <c:txPr>
              <a:bodyPr/>
              <a:lstStyle/>
              <a:p>
                <a:pPr>
                  <a:defRPr b="0" i="0" strike="noStrike" sz="1000" u="none">
                    <a:solidFill>
                      <a:srgbClr val="F3F1FF"/>
                    </a:solidFill>
                    <a:latin typeface="Arial"/>
                  </a:defRPr>
                </a:pPr>
              </a:p>
            </c:txPr>
            <c:showLegendKey val="0"/>
            <c:showVal val="1"/>
            <c:showCatName val="0"/>
            <c:showSerName val="0"/>
            <c:showPercent val="0"/>
            <c:showBubbleSize val="0"/>
            <c:showLeaderLines val="0"/>
          </c:dLbls>
          <c:cat>
            <c:multiLvlStrRef>
              <c:f>Sheet1!$A$2:$A$4</c:f>
              <c:multiLvlStrCache>
                <c:ptCount val="3"/>
                <c:lvl>
                  <c:pt idx="0">
                    <c:v>Player win rate (%)</c:v>
                  </c:pt>
                  <c:pt idx="1">
                    <c:v>Tactic repetition (%)</c:v>
                  </c:pt>
                  <c:pt idx="2">
                    <c:v>Gap from 50% win rate (pts)</c:v>
                  </c:pt>
                </c:lvl>
              </c:multiLvlStrCache>
            </c:multiLvlStrRef>
          </c:cat>
          <c:val>
            <c:numRef>
              <c:f>Sheet1!$B$2:$B$4</c:f>
              <c:numCache>
                <c:formatCode>General</c:formatCode>
                <c:ptCount val="3"/>
                <c:pt idx="0">
                  <c:v>64</c:v>
                </c:pt>
                <c:pt idx="1">
                  <c:v>64</c:v>
                </c:pt>
                <c:pt idx="2">
                  <c:v>14</c:v>
                </c:pt>
              </c:numCache>
            </c:numRef>
          </c:val>
        </c:ser>
        <c:ser>
          <c:idx val="1"/>
          <c:order val="1"/>
          <c:tx>
            <c:strRef>
              <c:f>Sheet1!$C$1</c:f>
              <c:strCache>
                <c:ptCount val="1"/>
                <c:pt idx="0">
                  <c:v>CyberDungeon (Symbolic AI GM)</c:v>
                </c:pt>
              </c:strCache>
            </c:strRef>
          </c:tx>
          <c:spPr>
            <a:solidFill>
              <a:srgbClr val="00E5FF"/>
            </a:solidFill>
            <a:effectLst/>
          </c:spPr>
          <c:invertIfNegative val="0"/>
          <c:dLbls>
            <c:numFmt formatCode="#,##0" sourceLinked="0"/>
            <c:txPr>
              <a:bodyPr/>
              <a:lstStyle/>
              <a:p>
                <a:pPr>
                  <a:defRPr b="0" i="0" strike="noStrike" sz="1000" u="none">
                    <a:solidFill>
                      <a:srgbClr val="F3F1FF"/>
                    </a:solidFill>
                    <a:latin typeface="Arial"/>
                  </a:defRPr>
                </a:pPr>
              </a:p>
            </c:txPr>
            <c:showLegendKey val="0"/>
            <c:showVal val="1"/>
            <c:showCatName val="0"/>
            <c:showSerName val="0"/>
            <c:showPercent val="0"/>
            <c:showBubbleSize val="0"/>
            <c:showLeaderLines val="0"/>
          </c:dLbls>
          <c:cat>
            <c:multiLvlStrRef>
              <c:f>Sheet1!$A$2:$A$4</c:f>
              <c:multiLvlStrCache>
                <c:ptCount val="3"/>
                <c:lvl>
                  <c:pt idx="0">
                    <c:v>Player win rate (%)</c:v>
                  </c:pt>
                  <c:pt idx="1">
                    <c:v>Tactic repetition (%)</c:v>
                  </c:pt>
                  <c:pt idx="2">
                    <c:v>Gap from 50% win rate (pts)</c:v>
                  </c:pt>
                </c:lvl>
              </c:multiLvlStrCache>
            </c:multiLvlStrRef>
          </c:cat>
          <c:val>
            <c:numRef>
              <c:f>Sheet1!$C$2:$C$4</c:f>
              <c:numCache>
                <c:formatCode>General</c:formatCode>
                <c:ptCount val="3"/>
                <c:pt idx="0">
                  <c:v>44</c:v>
                </c:pt>
                <c:pt idx="1">
                  <c:v>35</c:v>
                </c:pt>
                <c:pt idx="2">
                  <c:v>6</c:v>
                </c:pt>
              </c:numCache>
            </c:numRef>
          </c:val>
        </c:ser>
        <c:dLbls>
          <c:numFmt formatCode="#,##0" sourceLinked="0"/>
          <c:txPr>
            <a:bodyPr/>
            <a:lstStyle/>
            <a:p>
              <a:pPr>
                <a:defRPr b="0" i="0" strike="noStrike" sz="1000" u="none">
                  <a:solidFill>
                    <a:srgbClr val="F3F1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ABA6D6"/>
                </a:solidFill>
                <a:latin typeface="Arial"/>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3333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ABA6D6"/>
                </a:solidFill>
                <a:latin typeface="Arial"/>
              </a:defRPr>
            </a:pPr>
            <a:endParaRPr lang="en-US"/>
          </a:p>
        </c:txPr>
        <c:crossAx val="2094734554"/>
        <c:crosses val="autoZero"/>
        <c:crossBetween val="between"/>
      </c:valAx>
      <c:spPr>
        <a:solidFill>
          <a:srgbClr val="16163A"/>
        </a:solidFill>
        <a:ln>
          <a:noFill/>
        </a:ln>
        <a:effectLst/>
      </c:spPr>
    </c:plotArea>
    <c:legend>
      <c:legendPos val="b"/>
      <c:overlay val="0"/>
      <c:txPr>
        <a:bodyPr/>
        <a:lstStyle/>
        <a:p>
          <a:pPr>
            <a:defRPr sz="1000">
              <a:solidFill>
                <a:srgbClr val="ABA6D6"/>
              </a:solidFill>
            </a:defRPr>
          </a:pPr>
          <a:endParaRPr lang="en-US"/>
        </a:p>
      </c:txPr>
    </c:legend>
    <c:plotVisOnly val="1"/>
    <c:dispBlanksAs val="span"/>
  </c:chart>
  <c:spPr>
    <a:solidFill>
      <a:srgbClr val="16163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9692640" y="457200"/>
            <a:ext cx="1005840" cy="1005840"/>
          </a:xfrm>
          <a:prstGeom prst="hexagon">
            <a:avLst/>
          </a:prstGeom>
          <a:solidFill>
            <a:srgbClr val="16163A"/>
          </a:solidFill>
          <a:ln w="12700">
            <a:solidFill>
              <a:srgbClr val="33335C"/>
            </a:solidFill>
            <a:prstDash val="solid"/>
          </a:ln>
        </p:spPr>
      </p:sp>
      <p:sp>
        <p:nvSpPr>
          <p:cNvPr id="3" name="Shape 1"/>
          <p:cNvSpPr/>
          <p:nvPr/>
        </p:nvSpPr>
        <p:spPr>
          <a:xfrm>
            <a:off x="10881360" y="1737360"/>
            <a:ext cx="640080" cy="640080"/>
          </a:xfrm>
          <a:prstGeom prst="hexagon">
            <a:avLst/>
          </a:prstGeom>
          <a:solidFill>
            <a:srgbClr val="16163A"/>
          </a:solidFill>
          <a:ln w="12700">
            <a:solidFill>
              <a:srgbClr val="33335C"/>
            </a:solidFill>
            <a:prstDash val="solid"/>
          </a:ln>
        </p:spPr>
      </p:sp>
      <p:sp>
        <p:nvSpPr>
          <p:cNvPr id="4" name="Shape 2"/>
          <p:cNvSpPr/>
          <p:nvPr/>
        </p:nvSpPr>
        <p:spPr>
          <a:xfrm>
            <a:off x="365760" y="5120640"/>
            <a:ext cx="822960" cy="822960"/>
          </a:xfrm>
          <a:prstGeom prst="hexagon">
            <a:avLst/>
          </a:prstGeom>
          <a:solidFill>
            <a:srgbClr val="16163A"/>
          </a:solidFill>
          <a:ln w="12700">
            <a:solidFill>
              <a:srgbClr val="33335C"/>
            </a:solidFill>
            <a:prstDash val="solid"/>
          </a:ln>
        </p:spPr>
      </p:sp>
      <p:sp>
        <p:nvSpPr>
          <p:cNvPr id="5" name="Shape 3"/>
          <p:cNvSpPr/>
          <p:nvPr/>
        </p:nvSpPr>
        <p:spPr>
          <a:xfrm>
            <a:off x="1371600" y="5943600"/>
            <a:ext cx="502920" cy="502920"/>
          </a:xfrm>
          <a:prstGeom prst="hexagon">
            <a:avLst/>
          </a:prstGeom>
          <a:solidFill>
            <a:srgbClr val="16163A"/>
          </a:solidFill>
          <a:ln w="12700">
            <a:solidFill>
              <a:srgbClr val="33335C"/>
            </a:solidFill>
            <a:prstDash val="solid"/>
          </a:ln>
        </p:spPr>
      </p:sp>
      <p:sp>
        <p:nvSpPr>
          <p:cNvPr id="6" name="Shape 4"/>
          <p:cNvSpPr/>
          <p:nvPr/>
        </p:nvSpPr>
        <p:spPr>
          <a:xfrm>
            <a:off x="10607040" y="5394960"/>
            <a:ext cx="914400" cy="914400"/>
          </a:xfrm>
          <a:prstGeom prst="hexagon">
            <a:avLst/>
          </a:prstGeom>
          <a:solidFill>
            <a:srgbClr val="16163A"/>
          </a:solidFill>
          <a:ln w="12700">
            <a:solidFill>
              <a:srgbClr val="33335C"/>
            </a:solidFill>
            <a:prstDash val="solid"/>
          </a:ln>
        </p:spPr>
      </p:sp>
      <p:sp>
        <p:nvSpPr>
          <p:cNvPr id="7" name="Shape 5"/>
          <p:cNvSpPr/>
          <p:nvPr/>
        </p:nvSpPr>
        <p:spPr>
          <a:xfrm>
            <a:off x="-274320" y="274320"/>
            <a:ext cx="914400" cy="914400"/>
          </a:xfrm>
          <a:prstGeom prst="hexagon">
            <a:avLst/>
          </a:prstGeom>
          <a:solidFill>
            <a:srgbClr val="16163A"/>
          </a:solidFill>
          <a:ln w="12700">
            <a:solidFill>
              <a:srgbClr val="33335C"/>
            </a:solidFill>
            <a:prstDash val="solid"/>
          </a:ln>
        </p:spPr>
      </p:sp>
      <p:sp>
        <p:nvSpPr>
          <p:cNvPr id="8" name="Shape 6"/>
          <p:cNvSpPr/>
          <p:nvPr/>
        </p:nvSpPr>
        <p:spPr>
          <a:xfrm>
            <a:off x="5682996" y="1417320"/>
            <a:ext cx="822960" cy="822960"/>
          </a:xfrm>
          <a:prstGeom prst="hexagon">
            <a:avLst/>
          </a:prstGeom>
          <a:solidFill>
            <a:srgbClr val="7B2FF7"/>
          </a:solidFill>
          <a:ln/>
        </p:spPr>
      </p:sp>
      <p:sp>
        <p:nvSpPr>
          <p:cNvPr id="9" name="Text 7"/>
          <p:cNvSpPr txBox="1"/>
          <p:nvPr/>
        </p:nvSpPr>
        <p:spPr>
          <a:xfrm>
            <a:off x="5682996" y="1417320"/>
            <a:ext cx="822960" cy="822960"/>
          </a:xfrm>
          <a:prstGeom prst="rect">
            <a:avLst/>
          </a:prstGeom>
          <a:noFill/>
          <a:ln/>
        </p:spPr>
        <p:txBody>
          <a:bodyPr wrap="square" lIns="0" tIns="0" rIns="0" bIns="0" rtlCol="0" anchor="ctr"/>
          <a:lstStyle/>
          <a:p>
            <a:pPr algn="ctr" indent="0" marL="0">
              <a:buNone/>
            </a:pPr>
            <a:r>
              <a:rPr lang="en-US" sz="2340" b="1" dirty="0">
                <a:solidFill>
                  <a:srgbClr val="00E5FF"/>
                </a:solidFill>
                <a:latin typeface="Arial" pitchFamily="34" charset="0"/>
                <a:ea typeface="Arial" pitchFamily="34" charset="-122"/>
                <a:cs typeface="Arial" pitchFamily="34" charset="-120"/>
              </a:rPr>
              <a:t>⚔</a:t>
            </a:r>
            <a:endParaRPr lang="en-US" sz="2340" dirty="0"/>
          </a:p>
        </p:txBody>
      </p:sp>
      <p:sp>
        <p:nvSpPr>
          <p:cNvPr id="10" name="Text 8"/>
          <p:cNvSpPr txBox="1"/>
          <p:nvPr/>
        </p:nvSpPr>
        <p:spPr>
          <a:xfrm>
            <a:off x="457200" y="2468880"/>
            <a:ext cx="11274552" cy="1005840"/>
          </a:xfrm>
          <a:prstGeom prst="rect">
            <a:avLst/>
          </a:prstGeom>
          <a:noFill/>
          <a:ln/>
        </p:spPr>
        <p:txBody>
          <a:bodyPr wrap="square" lIns="0" tIns="0" rIns="0" bIns="0" rtlCol="0" anchor="ctr"/>
          <a:lstStyle/>
          <a:p>
            <a:pPr algn="ctr" indent="0" marL="0">
              <a:buNone/>
            </a:pPr>
            <a:r>
              <a:rPr lang="en-US" sz="5400" b="1" spc="300" kern="0" dirty="0">
                <a:solidFill>
                  <a:srgbClr val="F3F1FF"/>
                </a:solidFill>
                <a:latin typeface="Arial" pitchFamily="34" charset="0"/>
                <a:ea typeface="Arial" pitchFamily="34" charset="-122"/>
                <a:cs typeface="Arial" pitchFamily="34" charset="-120"/>
              </a:rPr>
              <a:t>CYBERDUNGEON</a:t>
            </a:r>
            <a:endParaRPr lang="en-US" sz="5400" dirty="0"/>
          </a:p>
        </p:txBody>
      </p:sp>
      <p:sp>
        <p:nvSpPr>
          <p:cNvPr id="11" name="Shape 9"/>
          <p:cNvSpPr/>
          <p:nvPr/>
        </p:nvSpPr>
        <p:spPr>
          <a:xfrm>
            <a:off x="4261104" y="3584448"/>
            <a:ext cx="3657600" cy="0"/>
          </a:xfrm>
          <a:prstGeom prst="line">
            <a:avLst/>
          </a:prstGeom>
          <a:noFill/>
          <a:ln w="25400">
            <a:solidFill>
              <a:srgbClr val="00E5FF"/>
            </a:solidFill>
            <a:prstDash val="solid"/>
          </a:ln>
        </p:spPr>
      </p:sp>
      <p:sp>
        <p:nvSpPr>
          <p:cNvPr id="12" name="Text 10"/>
          <p:cNvSpPr txBox="1"/>
          <p:nvPr/>
        </p:nvSpPr>
        <p:spPr>
          <a:xfrm>
            <a:off x="1060704" y="3703320"/>
            <a:ext cx="10058400" cy="502920"/>
          </a:xfrm>
          <a:prstGeom prst="rect">
            <a:avLst/>
          </a:prstGeom>
          <a:noFill/>
          <a:ln/>
        </p:spPr>
        <p:txBody>
          <a:bodyPr wrap="square" lIns="0" tIns="0" rIns="0" bIns="0" rtlCol="0" anchor="ctr"/>
          <a:lstStyle/>
          <a:p>
            <a:pPr algn="ctr" indent="0" marL="0">
              <a:buNone/>
            </a:pPr>
            <a:r>
              <a:rPr lang="en-US" sz="1800" dirty="0">
                <a:solidFill>
                  <a:srgbClr val="ABA6D6"/>
                </a:solidFill>
                <a:latin typeface="Calibri" pitchFamily="34" charset="0"/>
                <a:ea typeface="Calibri" pitchFamily="34" charset="-122"/>
                <a:cs typeface="Calibri" pitchFamily="34" charset="-120"/>
              </a:rPr>
              <a:t>A Symbolic AI Game Master for Dynamic Tactical Combat</a:t>
            </a:r>
            <a:endParaRPr lang="en-US" sz="1800" dirty="0"/>
          </a:p>
        </p:txBody>
      </p:sp>
      <p:sp>
        <p:nvSpPr>
          <p:cNvPr id="13" name="Shape 11"/>
          <p:cNvSpPr/>
          <p:nvPr/>
        </p:nvSpPr>
        <p:spPr>
          <a:xfrm>
            <a:off x="4261104" y="4617720"/>
            <a:ext cx="3657600" cy="1051560"/>
          </a:xfrm>
          <a:prstGeom prst="roundRect">
            <a:avLst>
              <a:gd name="adj" fmla="val 6957"/>
            </a:avLst>
          </a:prstGeom>
          <a:solidFill>
            <a:srgbClr val="16163A"/>
          </a:solidFill>
          <a:ln/>
        </p:spPr>
      </p:sp>
      <p:sp>
        <p:nvSpPr>
          <p:cNvPr id="14" name="Text 12"/>
          <p:cNvSpPr txBox="1"/>
          <p:nvPr/>
        </p:nvSpPr>
        <p:spPr>
          <a:xfrm>
            <a:off x="4261104" y="4800600"/>
            <a:ext cx="3657600" cy="685800"/>
          </a:xfrm>
          <a:prstGeom prst="rect">
            <a:avLst/>
          </a:prstGeom>
          <a:noFill/>
          <a:ln/>
        </p:spPr>
        <p:txBody>
          <a:bodyPr wrap="square" lIns="0" tIns="0" rIns="0" bIns="0" rtlCol="0" anchor="ctr"/>
          <a:lstStyle/>
          <a:p>
            <a:pPr algn="ctr" indent="0" marL="0">
              <a:buNone/>
            </a:pPr>
            <a:r>
              <a:rPr lang="en-US" sz="1200" dirty="0">
                <a:solidFill>
                  <a:srgbClr val="ABA6D6"/>
                </a:solidFill>
                <a:latin typeface="Calibri" pitchFamily="34" charset="0"/>
                <a:ea typeface="Calibri" pitchFamily="34" charset="-122"/>
                <a:cs typeface="Calibri" pitchFamily="34" charset="-120"/>
              </a:rPr>
              <a:t>Project Presentation</a:t>
            </a:r>
            <a:endParaRPr lang="en-US" sz="1200" dirty="0"/>
          </a:p>
          <a:p>
            <a:pPr algn="ctr" indent="0" marL="0">
              <a:buNone/>
            </a:pPr>
            <a:r>
              <a:rPr lang="en-US" sz="1200" dirty="0">
                <a:solidFill>
                  <a:srgbClr val="ABA6D6"/>
                </a:solidFill>
                <a:latin typeface="Calibri" pitchFamily="34" charset="0"/>
                <a:ea typeface="Calibri" pitchFamily="34" charset="-122"/>
                <a:cs typeface="Calibri" pitchFamily="34" charset="-120"/>
              </a:rPr>
              <a:t>Department of Computer Science &amp; Engineering</a:t>
            </a:r>
            <a:endParaRPr lang="en-US" sz="1200" dirty="0"/>
          </a:p>
        </p:txBody>
      </p:sp>
      <p:sp>
        <p:nvSpPr>
          <p:cNvPr id="15" name="Text 13"/>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FINAL YEAR PROJECT</a:t>
            </a:r>
            <a:endParaRPr lang="en-US" sz="900" dirty="0"/>
          </a:p>
        </p:txBody>
      </p:sp>
      <p:sp>
        <p:nvSpPr>
          <p:cNvPr id="16" name="Text 14"/>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17" name="Text 15"/>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1 · ABSTRACT</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Abstract</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00200"/>
            <a:ext cx="7040880" cy="4480560"/>
          </a:xfrm>
          <a:prstGeom prst="roundRect">
            <a:avLst>
              <a:gd name="adj" fmla="val 1633"/>
            </a:avLst>
          </a:prstGeom>
          <a:solidFill>
            <a:srgbClr val="16163A"/>
          </a:solidFill>
          <a:ln/>
          <a:effectLst>
            <a:outerShdw sx="100000" sy="100000" kx="0" ky="0" algn="bl" rotWithShape="0" blurRad="101600" dist="38100" dir="5400000">
              <a:srgbClr val="000000">
                <a:alpha val="35000"/>
              </a:srgbClr>
            </a:outerShdw>
          </a:effectLst>
        </p:spPr>
      </p:sp>
      <p:sp>
        <p:nvSpPr>
          <p:cNvPr id="8" name="Text 6"/>
          <p:cNvSpPr txBox="1"/>
          <p:nvPr/>
        </p:nvSpPr>
        <p:spPr>
          <a:xfrm>
            <a:off x="731520" y="1828800"/>
            <a:ext cx="6492240" cy="4023360"/>
          </a:xfrm>
          <a:prstGeom prst="rect">
            <a:avLst/>
          </a:prstGeom>
          <a:noFill/>
          <a:ln/>
        </p:spPr>
        <p:txBody>
          <a:bodyPr wrap="square" lIns="0" tIns="0" rIns="0" bIns="0" rtlCol="0" anchor="ctr"/>
          <a:lstStyle/>
          <a:p>
            <a:pPr indent="0" marL="0">
              <a:lnSpc>
                <a:spcPct val="125000"/>
              </a:lnSpc>
              <a:buNone/>
            </a:pPr>
            <a:r>
              <a:rPr lang="en-US" sz="1350" dirty="0">
                <a:solidFill>
                  <a:srgbClr val="F3F1FF"/>
                </a:solidFill>
                <a:latin typeface="Calibri" pitchFamily="34" charset="0"/>
                <a:ea typeface="Calibri" pitchFamily="34" charset="-122"/>
                <a:cs typeface="Calibri" pitchFamily="34" charset="-120"/>
              </a:rPr>
              <a:t>CyberDungeon is a symbolic-AI driven “Game Master” for turn-based tactical combat. Instead of scripted enemy behaviour or an opaque neural policy, combat state, unit capabilities and terrain are represented as explicit symbolic facts. A hybrid rule engine and goal-oriented planner reason over this knowledge base to select, justify and execute enemy tactics in real time.</a:t>
            </a:r>
            <a:endParaRPr lang="en-US" sz="1350" dirty="0"/>
          </a:p>
          <a:p>
            <a:pPr indent="0" marL="0">
              <a:lnSpc>
                <a:spcPct val="125000"/>
              </a:lnSpc>
              <a:buNone/>
            </a:pPr>
            <a:endParaRPr lang="en-US" sz="1350" dirty="0"/>
          </a:p>
          <a:p>
            <a:pPr indent="0" marL="0">
              <a:lnSpc>
                <a:spcPct val="125000"/>
              </a:lnSpc>
              <a:buNone/>
            </a:pPr>
            <a:r>
              <a:rPr lang="en-US" sz="1350" dirty="0">
                <a:solidFill>
                  <a:srgbClr val="F3F1FF"/>
                </a:solidFill>
                <a:latin typeface="Calibri" pitchFamily="34" charset="0"/>
                <a:ea typeface="Calibri" pitchFamily="34" charset="-122"/>
                <a:cs typeface="Calibri" pitchFamily="34" charset="-120"/>
              </a:rPr>
              <a:t>The Game Master continuously reads player performance and a difficulty target, adapting the plans it generates — flanking, focus-fire, retreat, cover — while producing a human-readable explanation for every decision. The system is evaluated against a static scripted baseline on tactic variety, repetition, balance and decision latency.</a:t>
            </a:r>
            <a:endParaRPr lang="en-US" sz="1350" dirty="0"/>
          </a:p>
        </p:txBody>
      </p:sp>
      <p:sp>
        <p:nvSpPr>
          <p:cNvPr id="9" name="Shape 7"/>
          <p:cNvSpPr/>
          <p:nvPr/>
        </p:nvSpPr>
        <p:spPr>
          <a:xfrm>
            <a:off x="7772400" y="1600200"/>
            <a:ext cx="3959352" cy="1325880"/>
          </a:xfrm>
          <a:prstGeom prst="roundRect">
            <a:avLst>
              <a:gd name="adj" fmla="val 5517"/>
            </a:avLst>
          </a:prstGeom>
          <a:solidFill>
            <a:srgbClr val="1D1D48"/>
          </a:solidFill>
          <a:ln/>
          <a:effectLst>
            <a:outerShdw sx="100000" sy="100000" kx="0" ky="0" algn="bl" rotWithShape="0" blurRad="101600" dist="38100" dir="5400000">
              <a:srgbClr val="000000">
                <a:alpha val="35000"/>
              </a:srgbClr>
            </a:outerShdw>
          </a:effectLst>
        </p:spPr>
      </p:sp>
      <p:sp>
        <p:nvSpPr>
          <p:cNvPr id="10" name="Text 8"/>
          <p:cNvSpPr txBox="1"/>
          <p:nvPr/>
        </p:nvSpPr>
        <p:spPr>
          <a:xfrm>
            <a:off x="7955280" y="1709928"/>
            <a:ext cx="3474720" cy="640080"/>
          </a:xfrm>
          <a:prstGeom prst="rect">
            <a:avLst/>
          </a:prstGeom>
          <a:noFill/>
          <a:ln/>
        </p:spPr>
        <p:txBody>
          <a:bodyPr wrap="square" lIns="0" tIns="0" rIns="0" bIns="0" rtlCol="0" anchor="ctr"/>
          <a:lstStyle/>
          <a:p>
            <a:pPr indent="0" marL="0">
              <a:buNone/>
            </a:pPr>
            <a:r>
              <a:rPr lang="en-US" sz="2600" b="1" dirty="0">
                <a:solidFill>
                  <a:srgbClr val="00E5FF"/>
                </a:solidFill>
                <a:latin typeface="Arial" pitchFamily="34" charset="0"/>
                <a:ea typeface="Arial" pitchFamily="34" charset="-122"/>
                <a:cs typeface="Arial" pitchFamily="34" charset="-120"/>
              </a:rPr>
              <a:t>100%</a:t>
            </a:r>
            <a:endParaRPr lang="en-US" sz="2600" dirty="0"/>
          </a:p>
        </p:txBody>
      </p:sp>
      <p:sp>
        <p:nvSpPr>
          <p:cNvPr id="11" name="Text 9"/>
          <p:cNvSpPr txBox="1"/>
          <p:nvPr/>
        </p:nvSpPr>
        <p:spPr>
          <a:xfrm>
            <a:off x="7955280" y="2331720"/>
            <a:ext cx="3566160" cy="502920"/>
          </a:xfrm>
          <a:prstGeom prst="rect">
            <a:avLst/>
          </a:prstGeom>
          <a:noFill/>
          <a:ln/>
        </p:spPr>
        <p:txBody>
          <a:bodyPr wrap="square" lIns="0" tIns="0" rIns="0" bIns="0" rtlCol="0" anchor="ctr"/>
          <a:lstStyle/>
          <a:p>
            <a:pPr indent="0" marL="0">
              <a:buNone/>
            </a:pPr>
            <a:r>
              <a:rPr lang="en-US" sz="1100" dirty="0">
                <a:solidFill>
                  <a:srgbClr val="ABA6D6"/>
                </a:solidFill>
                <a:latin typeface="Calibri" pitchFamily="34" charset="0"/>
                <a:ea typeface="Calibri" pitchFamily="34" charset="-122"/>
                <a:cs typeface="Calibri" pitchFamily="34" charset="-120"/>
              </a:rPr>
              <a:t>Explainable</a:t>
            </a:r>
            <a:endParaRPr lang="en-US" sz="1100" dirty="0"/>
          </a:p>
          <a:p>
            <a:pPr indent="0" marL="0">
              <a:buNone/>
            </a:pPr>
            <a:r>
              <a:rPr lang="en-US" sz="1100" dirty="0">
                <a:solidFill>
                  <a:srgbClr val="ABA6D6"/>
                </a:solidFill>
                <a:latin typeface="Calibri" pitchFamily="34" charset="0"/>
                <a:ea typeface="Calibri" pitchFamily="34" charset="-122"/>
                <a:cs typeface="Calibri" pitchFamily="34" charset="-120"/>
              </a:rPr>
              <a:t>decisions</a:t>
            </a:r>
            <a:endParaRPr lang="en-US" sz="1100" dirty="0"/>
          </a:p>
        </p:txBody>
      </p:sp>
      <p:sp>
        <p:nvSpPr>
          <p:cNvPr id="12" name="Shape 10"/>
          <p:cNvSpPr/>
          <p:nvPr/>
        </p:nvSpPr>
        <p:spPr>
          <a:xfrm>
            <a:off x="7772400" y="3090672"/>
            <a:ext cx="3959352" cy="1325880"/>
          </a:xfrm>
          <a:prstGeom prst="roundRect">
            <a:avLst>
              <a:gd name="adj" fmla="val 5517"/>
            </a:avLst>
          </a:prstGeom>
          <a:solidFill>
            <a:srgbClr val="1D1D48"/>
          </a:solidFill>
          <a:ln/>
          <a:effectLst>
            <a:outerShdw sx="100000" sy="100000" kx="0" ky="0" algn="bl" rotWithShape="0" blurRad="101600" dist="38100" dir="5400000">
              <a:srgbClr val="000000">
                <a:alpha val="35000"/>
              </a:srgbClr>
            </a:outerShdw>
          </a:effectLst>
        </p:spPr>
      </p:sp>
      <p:sp>
        <p:nvSpPr>
          <p:cNvPr id="13" name="Text 11"/>
          <p:cNvSpPr txBox="1"/>
          <p:nvPr/>
        </p:nvSpPr>
        <p:spPr>
          <a:xfrm>
            <a:off x="7955280" y="3200400"/>
            <a:ext cx="3474720" cy="640080"/>
          </a:xfrm>
          <a:prstGeom prst="rect">
            <a:avLst/>
          </a:prstGeom>
          <a:noFill/>
          <a:ln/>
        </p:spPr>
        <p:txBody>
          <a:bodyPr wrap="square" lIns="0" tIns="0" rIns="0" bIns="0" rtlCol="0" anchor="ctr"/>
          <a:lstStyle/>
          <a:p>
            <a:pPr indent="0" marL="0">
              <a:buNone/>
            </a:pPr>
            <a:r>
              <a:rPr lang="en-US" sz="2600" b="1" dirty="0">
                <a:solidFill>
                  <a:srgbClr val="00E5FF"/>
                </a:solidFill>
                <a:latin typeface="Arial" pitchFamily="34" charset="0"/>
                <a:ea typeface="Arial" pitchFamily="34" charset="-122"/>
                <a:cs typeface="Arial" pitchFamily="34" charset="-120"/>
              </a:rPr>
              <a:t>Live</a:t>
            </a:r>
            <a:endParaRPr lang="en-US" sz="2600" dirty="0"/>
          </a:p>
        </p:txBody>
      </p:sp>
      <p:sp>
        <p:nvSpPr>
          <p:cNvPr id="14" name="Text 12"/>
          <p:cNvSpPr txBox="1"/>
          <p:nvPr/>
        </p:nvSpPr>
        <p:spPr>
          <a:xfrm>
            <a:off x="7955280" y="3822192"/>
            <a:ext cx="3566160" cy="502920"/>
          </a:xfrm>
          <a:prstGeom prst="rect">
            <a:avLst/>
          </a:prstGeom>
          <a:noFill/>
          <a:ln/>
        </p:spPr>
        <p:txBody>
          <a:bodyPr wrap="square" lIns="0" tIns="0" rIns="0" bIns="0" rtlCol="0" anchor="ctr"/>
          <a:lstStyle/>
          <a:p>
            <a:pPr indent="0" marL="0">
              <a:buNone/>
            </a:pPr>
            <a:r>
              <a:rPr lang="en-US" sz="1100" dirty="0">
                <a:solidFill>
                  <a:srgbClr val="ABA6D6"/>
                </a:solidFill>
                <a:latin typeface="Calibri" pitchFamily="34" charset="0"/>
                <a:ea typeface="Calibri" pitchFamily="34" charset="-122"/>
                <a:cs typeface="Calibri" pitchFamily="34" charset="-120"/>
              </a:rPr>
              <a:t>Real-time plan</a:t>
            </a:r>
            <a:endParaRPr lang="en-US" sz="1100" dirty="0"/>
          </a:p>
          <a:p>
            <a:pPr indent="0" marL="0">
              <a:buNone/>
            </a:pPr>
            <a:r>
              <a:rPr lang="en-US" sz="1100" dirty="0">
                <a:solidFill>
                  <a:srgbClr val="ABA6D6"/>
                </a:solidFill>
                <a:latin typeface="Calibri" pitchFamily="34" charset="0"/>
                <a:ea typeface="Calibri" pitchFamily="34" charset="-122"/>
                <a:cs typeface="Calibri" pitchFamily="34" charset="-120"/>
              </a:rPr>
              <a:t>replanning</a:t>
            </a:r>
            <a:endParaRPr lang="en-US" sz="1100" dirty="0"/>
          </a:p>
        </p:txBody>
      </p:sp>
      <p:sp>
        <p:nvSpPr>
          <p:cNvPr id="15" name="Shape 13"/>
          <p:cNvSpPr/>
          <p:nvPr/>
        </p:nvSpPr>
        <p:spPr>
          <a:xfrm>
            <a:off x="7772400" y="4581144"/>
            <a:ext cx="3959352" cy="1325880"/>
          </a:xfrm>
          <a:prstGeom prst="roundRect">
            <a:avLst>
              <a:gd name="adj" fmla="val 5517"/>
            </a:avLst>
          </a:prstGeom>
          <a:solidFill>
            <a:srgbClr val="1D1D48"/>
          </a:solidFill>
          <a:ln/>
          <a:effectLst>
            <a:outerShdw sx="100000" sy="100000" kx="0" ky="0" algn="bl" rotWithShape="0" blurRad="101600" dist="38100" dir="5400000">
              <a:srgbClr val="000000">
                <a:alpha val="35000"/>
              </a:srgbClr>
            </a:outerShdw>
          </a:effectLst>
        </p:spPr>
      </p:sp>
      <p:sp>
        <p:nvSpPr>
          <p:cNvPr id="16" name="Text 14"/>
          <p:cNvSpPr txBox="1"/>
          <p:nvPr/>
        </p:nvSpPr>
        <p:spPr>
          <a:xfrm>
            <a:off x="7955280" y="4690872"/>
            <a:ext cx="3474720" cy="640080"/>
          </a:xfrm>
          <a:prstGeom prst="rect">
            <a:avLst/>
          </a:prstGeom>
          <a:noFill/>
          <a:ln/>
        </p:spPr>
        <p:txBody>
          <a:bodyPr wrap="square" lIns="0" tIns="0" rIns="0" bIns="0" rtlCol="0" anchor="ctr"/>
          <a:lstStyle/>
          <a:p>
            <a:pPr indent="0" marL="0">
              <a:buNone/>
            </a:pPr>
            <a:r>
              <a:rPr lang="en-US" sz="2600" b="1" dirty="0">
                <a:solidFill>
                  <a:srgbClr val="00E5FF"/>
                </a:solidFill>
                <a:latin typeface="Arial" pitchFamily="34" charset="0"/>
                <a:ea typeface="Arial" pitchFamily="34" charset="-122"/>
                <a:cs typeface="Arial" pitchFamily="34" charset="-120"/>
              </a:rPr>
              <a:t>Adaptive</a:t>
            </a:r>
            <a:endParaRPr lang="en-US" sz="2600" dirty="0"/>
          </a:p>
        </p:txBody>
      </p:sp>
      <p:sp>
        <p:nvSpPr>
          <p:cNvPr id="17" name="Text 15"/>
          <p:cNvSpPr txBox="1"/>
          <p:nvPr/>
        </p:nvSpPr>
        <p:spPr>
          <a:xfrm>
            <a:off x="7955280" y="5312664"/>
            <a:ext cx="3566160" cy="502920"/>
          </a:xfrm>
          <a:prstGeom prst="rect">
            <a:avLst/>
          </a:prstGeom>
          <a:noFill/>
          <a:ln/>
        </p:spPr>
        <p:txBody>
          <a:bodyPr wrap="square" lIns="0" tIns="0" rIns="0" bIns="0" rtlCol="0" anchor="ctr"/>
          <a:lstStyle/>
          <a:p>
            <a:pPr indent="0" marL="0">
              <a:buNone/>
            </a:pPr>
            <a:r>
              <a:rPr lang="en-US" sz="1100" dirty="0">
                <a:solidFill>
                  <a:srgbClr val="ABA6D6"/>
                </a:solidFill>
                <a:latin typeface="Calibri" pitchFamily="34" charset="0"/>
                <a:ea typeface="Calibri" pitchFamily="34" charset="-122"/>
                <a:cs typeface="Calibri" pitchFamily="34" charset="-120"/>
              </a:rPr>
              <a:t>Difficulty</a:t>
            </a:r>
            <a:endParaRPr lang="en-US" sz="1100" dirty="0"/>
          </a:p>
          <a:p>
            <a:pPr indent="0" marL="0">
              <a:buNone/>
            </a:pPr>
            <a:r>
              <a:rPr lang="en-US" sz="1100" dirty="0">
                <a:solidFill>
                  <a:srgbClr val="ABA6D6"/>
                </a:solidFill>
                <a:latin typeface="Calibri" pitchFamily="34" charset="0"/>
                <a:ea typeface="Calibri" pitchFamily="34" charset="-122"/>
                <a:cs typeface="Calibri" pitchFamily="34" charset="-120"/>
              </a:rPr>
              <a:t>tuning</a:t>
            </a:r>
            <a:endParaRPr lang="en-US" sz="1100" dirty="0"/>
          </a:p>
        </p:txBody>
      </p:sp>
      <p:sp>
        <p:nvSpPr>
          <p:cNvPr id="18" name="Text 16"/>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1 · ABSTRACT</a:t>
            </a:r>
            <a:endParaRPr lang="en-US" sz="900" dirty="0"/>
          </a:p>
        </p:txBody>
      </p:sp>
      <p:sp>
        <p:nvSpPr>
          <p:cNvPr id="19" name="Text 17"/>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20" name="Text 18"/>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2 · PROBLEM STATEMENT</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Why Tactical Combat AI Falls Short</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91640"/>
            <a:ext cx="5349240" cy="2148840"/>
          </a:xfrm>
          <a:prstGeom prst="roundRect">
            <a:avLst>
              <a:gd name="adj" fmla="val 3404"/>
            </a:avLst>
          </a:prstGeom>
          <a:solidFill>
            <a:srgbClr val="16163A"/>
          </a:solidFill>
          <a:ln/>
          <a:effectLst>
            <a:outerShdw sx="100000" sy="100000" kx="0" ky="0" algn="bl" rotWithShape="0" blurRad="101600" dist="38100" dir="5400000">
              <a:srgbClr val="000000">
                <a:alpha val="35000"/>
              </a:srgbClr>
            </a:outerShdw>
          </a:effectLst>
        </p:spPr>
      </p:sp>
      <p:sp>
        <p:nvSpPr>
          <p:cNvPr id="8" name="Shape 6"/>
          <p:cNvSpPr/>
          <p:nvPr/>
        </p:nvSpPr>
        <p:spPr>
          <a:xfrm>
            <a:off x="713232" y="1947672"/>
            <a:ext cx="502920" cy="502920"/>
          </a:xfrm>
          <a:prstGeom prst="hexagon">
            <a:avLst/>
          </a:prstGeom>
          <a:solidFill>
            <a:srgbClr val="FF3B5C"/>
          </a:solidFill>
          <a:ln/>
        </p:spPr>
      </p:sp>
      <p:sp>
        <p:nvSpPr>
          <p:cNvPr id="9" name="Text 7"/>
          <p:cNvSpPr txBox="1"/>
          <p:nvPr/>
        </p:nvSpPr>
        <p:spPr>
          <a:xfrm>
            <a:off x="713232" y="1947672"/>
            <a:ext cx="502920" cy="502920"/>
          </a:xfrm>
          <a:prstGeom prst="rect">
            <a:avLst/>
          </a:prstGeom>
          <a:noFill/>
          <a:ln/>
        </p:spPr>
        <p:txBody>
          <a:bodyPr wrap="square" lIns="0" tIns="0" rIns="0" bIns="0" rtlCol="0" anchor="ctr"/>
          <a:lstStyle/>
          <a:p>
            <a:pPr algn="ctr" indent="0" marL="0">
              <a:buNone/>
            </a:pPr>
            <a:r>
              <a:rPr lang="en-US" sz="1430" b="1" dirty="0">
                <a:solidFill>
                  <a:srgbClr val="F3F1FF"/>
                </a:solidFill>
                <a:latin typeface="Arial" pitchFamily="34" charset="0"/>
                <a:ea typeface="Arial" pitchFamily="34" charset="-122"/>
                <a:cs typeface="Arial" pitchFamily="34" charset="-120"/>
              </a:rPr>
              <a:t>1</a:t>
            </a:r>
            <a:endParaRPr lang="en-US" sz="1430" dirty="0"/>
          </a:p>
        </p:txBody>
      </p:sp>
      <p:sp>
        <p:nvSpPr>
          <p:cNvPr id="10" name="Text 8"/>
          <p:cNvSpPr txBox="1"/>
          <p:nvPr/>
        </p:nvSpPr>
        <p:spPr>
          <a:xfrm>
            <a:off x="1371600" y="1947672"/>
            <a:ext cx="4160520" cy="457200"/>
          </a:xfrm>
          <a:prstGeom prst="rect">
            <a:avLst/>
          </a:prstGeom>
          <a:noFill/>
          <a:ln/>
        </p:spPr>
        <p:txBody>
          <a:bodyPr wrap="square" lIns="0" tIns="0" rIns="0" bIns="0" rtlCol="0" anchor="ctr"/>
          <a:lstStyle/>
          <a:p>
            <a:pPr indent="0" marL="0">
              <a:buNone/>
            </a:pPr>
            <a:r>
              <a:rPr lang="en-US" sz="1550" b="1" dirty="0">
                <a:solidFill>
                  <a:srgbClr val="F3F1FF"/>
                </a:solidFill>
                <a:latin typeface="Arial" pitchFamily="34" charset="0"/>
                <a:ea typeface="Arial" pitchFamily="34" charset="-122"/>
                <a:cs typeface="Arial" pitchFamily="34" charset="-120"/>
              </a:rPr>
              <a:t>Predictable &amp; Scripted</a:t>
            </a:r>
            <a:endParaRPr lang="en-US" sz="1550" dirty="0"/>
          </a:p>
        </p:txBody>
      </p:sp>
      <p:sp>
        <p:nvSpPr>
          <p:cNvPr id="11" name="Text 9"/>
          <p:cNvSpPr txBox="1"/>
          <p:nvPr/>
        </p:nvSpPr>
        <p:spPr>
          <a:xfrm>
            <a:off x="713232" y="2532888"/>
            <a:ext cx="4837176" cy="1097280"/>
          </a:xfrm>
          <a:prstGeom prst="rect">
            <a:avLst/>
          </a:prstGeom>
          <a:noFill/>
          <a:ln/>
        </p:spPr>
        <p:txBody>
          <a:bodyPr wrap="square" lIns="0" tIns="0" rIns="0" bIns="0" rtlCol="0" anchor="ctr"/>
          <a:lstStyle/>
          <a:p>
            <a:pPr indent="0" marL="0">
              <a:lnSpc>
                <a:spcPct val="120000"/>
              </a:lnSpc>
              <a:buNone/>
            </a:pPr>
            <a:r>
              <a:rPr lang="en-US" sz="1200" dirty="0">
                <a:solidFill>
                  <a:srgbClr val="ABA6D6"/>
                </a:solidFill>
                <a:latin typeface="Calibri" pitchFamily="34" charset="0"/>
                <a:ea typeface="Calibri" pitchFamily="34" charset="-122"/>
                <a:cs typeface="Calibri" pitchFamily="34" charset="-120"/>
              </a:rPr>
              <a:t>Hard-coded behaviour trees repeat the same tactics, so experienced players quickly learn and exploit enemy patterns.</a:t>
            </a:r>
            <a:endParaRPr lang="en-US" sz="1200" dirty="0"/>
          </a:p>
        </p:txBody>
      </p:sp>
      <p:sp>
        <p:nvSpPr>
          <p:cNvPr id="12" name="Shape 10"/>
          <p:cNvSpPr/>
          <p:nvPr/>
        </p:nvSpPr>
        <p:spPr>
          <a:xfrm>
            <a:off x="6382512" y="1691640"/>
            <a:ext cx="5349240" cy="2148840"/>
          </a:xfrm>
          <a:prstGeom prst="roundRect">
            <a:avLst>
              <a:gd name="adj" fmla="val 3404"/>
            </a:avLst>
          </a:prstGeom>
          <a:solidFill>
            <a:srgbClr val="16163A"/>
          </a:solidFill>
          <a:ln/>
          <a:effectLst>
            <a:outerShdw sx="100000" sy="100000" kx="0" ky="0" algn="bl" rotWithShape="0" blurRad="101600" dist="38100" dir="5400000">
              <a:srgbClr val="000000">
                <a:alpha val="35000"/>
              </a:srgbClr>
            </a:outerShdw>
          </a:effectLst>
        </p:spPr>
      </p:sp>
      <p:sp>
        <p:nvSpPr>
          <p:cNvPr id="13" name="Shape 11"/>
          <p:cNvSpPr/>
          <p:nvPr/>
        </p:nvSpPr>
        <p:spPr>
          <a:xfrm>
            <a:off x="6638544" y="1947672"/>
            <a:ext cx="502920" cy="502920"/>
          </a:xfrm>
          <a:prstGeom prst="hexagon">
            <a:avLst/>
          </a:prstGeom>
          <a:solidFill>
            <a:srgbClr val="FF3B5C"/>
          </a:solidFill>
          <a:ln/>
        </p:spPr>
      </p:sp>
      <p:sp>
        <p:nvSpPr>
          <p:cNvPr id="14" name="Text 12"/>
          <p:cNvSpPr txBox="1"/>
          <p:nvPr/>
        </p:nvSpPr>
        <p:spPr>
          <a:xfrm>
            <a:off x="6638544" y="1947672"/>
            <a:ext cx="502920" cy="502920"/>
          </a:xfrm>
          <a:prstGeom prst="rect">
            <a:avLst/>
          </a:prstGeom>
          <a:noFill/>
          <a:ln/>
        </p:spPr>
        <p:txBody>
          <a:bodyPr wrap="square" lIns="0" tIns="0" rIns="0" bIns="0" rtlCol="0" anchor="ctr"/>
          <a:lstStyle/>
          <a:p>
            <a:pPr algn="ctr" indent="0" marL="0">
              <a:buNone/>
            </a:pPr>
            <a:r>
              <a:rPr lang="en-US" sz="1430" b="1" dirty="0">
                <a:solidFill>
                  <a:srgbClr val="F3F1FF"/>
                </a:solidFill>
                <a:latin typeface="Arial" pitchFamily="34" charset="0"/>
                <a:ea typeface="Arial" pitchFamily="34" charset="-122"/>
                <a:cs typeface="Arial" pitchFamily="34" charset="-120"/>
              </a:rPr>
              <a:t>2</a:t>
            </a:r>
            <a:endParaRPr lang="en-US" sz="1430" dirty="0"/>
          </a:p>
        </p:txBody>
      </p:sp>
      <p:sp>
        <p:nvSpPr>
          <p:cNvPr id="15" name="Text 13"/>
          <p:cNvSpPr txBox="1"/>
          <p:nvPr/>
        </p:nvSpPr>
        <p:spPr>
          <a:xfrm>
            <a:off x="7296912" y="1947672"/>
            <a:ext cx="4160520" cy="457200"/>
          </a:xfrm>
          <a:prstGeom prst="rect">
            <a:avLst/>
          </a:prstGeom>
          <a:noFill/>
          <a:ln/>
        </p:spPr>
        <p:txBody>
          <a:bodyPr wrap="square" lIns="0" tIns="0" rIns="0" bIns="0" rtlCol="0" anchor="ctr"/>
          <a:lstStyle/>
          <a:p>
            <a:pPr indent="0" marL="0">
              <a:buNone/>
            </a:pPr>
            <a:r>
              <a:rPr lang="en-US" sz="1550" b="1" dirty="0">
                <a:solidFill>
                  <a:srgbClr val="F3F1FF"/>
                </a:solidFill>
                <a:latin typeface="Arial" pitchFamily="34" charset="0"/>
                <a:ea typeface="Arial" pitchFamily="34" charset="-122"/>
                <a:cs typeface="Arial" pitchFamily="34" charset="-120"/>
              </a:rPr>
              <a:t>Manual Balancing Overhead</a:t>
            </a:r>
            <a:endParaRPr lang="en-US" sz="1550" dirty="0"/>
          </a:p>
        </p:txBody>
      </p:sp>
      <p:sp>
        <p:nvSpPr>
          <p:cNvPr id="16" name="Text 14"/>
          <p:cNvSpPr txBox="1"/>
          <p:nvPr/>
        </p:nvSpPr>
        <p:spPr>
          <a:xfrm>
            <a:off x="6638544" y="2532888"/>
            <a:ext cx="4837176" cy="1097280"/>
          </a:xfrm>
          <a:prstGeom prst="rect">
            <a:avLst/>
          </a:prstGeom>
          <a:noFill/>
          <a:ln/>
        </p:spPr>
        <p:txBody>
          <a:bodyPr wrap="square" lIns="0" tIns="0" rIns="0" bIns="0" rtlCol="0" anchor="ctr"/>
          <a:lstStyle/>
          <a:p>
            <a:pPr indent="0" marL="0">
              <a:lnSpc>
                <a:spcPct val="120000"/>
              </a:lnSpc>
              <a:buNone/>
            </a:pPr>
            <a:r>
              <a:rPr lang="en-US" sz="1200" dirty="0">
                <a:solidFill>
                  <a:srgbClr val="ABA6D6"/>
                </a:solidFill>
                <a:latin typeface="Calibri" pitchFamily="34" charset="0"/>
                <a:ea typeface="Calibri" pitchFamily="34" charset="-122"/>
                <a:cs typeface="Calibri" pitchFamily="34" charset="-120"/>
              </a:rPr>
              <a:t>Designers hand-tune difficulty per encounter; there is no principled way to keep challenge matched to player skill.</a:t>
            </a:r>
            <a:endParaRPr lang="en-US" sz="1200" dirty="0"/>
          </a:p>
        </p:txBody>
      </p:sp>
      <p:sp>
        <p:nvSpPr>
          <p:cNvPr id="17" name="Shape 15"/>
          <p:cNvSpPr/>
          <p:nvPr/>
        </p:nvSpPr>
        <p:spPr>
          <a:xfrm>
            <a:off x="457200" y="4160520"/>
            <a:ext cx="5349240" cy="2148840"/>
          </a:xfrm>
          <a:prstGeom prst="roundRect">
            <a:avLst>
              <a:gd name="adj" fmla="val 3404"/>
            </a:avLst>
          </a:prstGeom>
          <a:solidFill>
            <a:srgbClr val="16163A"/>
          </a:solidFill>
          <a:ln/>
          <a:effectLst>
            <a:outerShdw sx="100000" sy="100000" kx="0" ky="0" algn="bl" rotWithShape="0" blurRad="101600" dist="38100" dir="5400000">
              <a:srgbClr val="000000">
                <a:alpha val="35000"/>
              </a:srgbClr>
            </a:outerShdw>
          </a:effectLst>
        </p:spPr>
      </p:sp>
      <p:sp>
        <p:nvSpPr>
          <p:cNvPr id="18" name="Shape 16"/>
          <p:cNvSpPr/>
          <p:nvPr/>
        </p:nvSpPr>
        <p:spPr>
          <a:xfrm>
            <a:off x="713232" y="4416552"/>
            <a:ext cx="502920" cy="502920"/>
          </a:xfrm>
          <a:prstGeom prst="hexagon">
            <a:avLst/>
          </a:prstGeom>
          <a:solidFill>
            <a:srgbClr val="FF3B5C"/>
          </a:solidFill>
          <a:ln/>
        </p:spPr>
      </p:sp>
      <p:sp>
        <p:nvSpPr>
          <p:cNvPr id="19" name="Text 17"/>
          <p:cNvSpPr txBox="1"/>
          <p:nvPr/>
        </p:nvSpPr>
        <p:spPr>
          <a:xfrm>
            <a:off x="713232" y="4416552"/>
            <a:ext cx="502920" cy="502920"/>
          </a:xfrm>
          <a:prstGeom prst="rect">
            <a:avLst/>
          </a:prstGeom>
          <a:noFill/>
          <a:ln/>
        </p:spPr>
        <p:txBody>
          <a:bodyPr wrap="square" lIns="0" tIns="0" rIns="0" bIns="0" rtlCol="0" anchor="ctr"/>
          <a:lstStyle/>
          <a:p>
            <a:pPr algn="ctr" indent="0" marL="0">
              <a:buNone/>
            </a:pPr>
            <a:r>
              <a:rPr lang="en-US" sz="1430" b="1" dirty="0">
                <a:solidFill>
                  <a:srgbClr val="F3F1FF"/>
                </a:solidFill>
                <a:latin typeface="Arial" pitchFamily="34" charset="0"/>
                <a:ea typeface="Arial" pitchFamily="34" charset="-122"/>
                <a:cs typeface="Arial" pitchFamily="34" charset="-120"/>
              </a:rPr>
              <a:t>3</a:t>
            </a:r>
            <a:endParaRPr lang="en-US" sz="1430" dirty="0"/>
          </a:p>
        </p:txBody>
      </p:sp>
      <p:sp>
        <p:nvSpPr>
          <p:cNvPr id="20" name="Text 18"/>
          <p:cNvSpPr txBox="1"/>
          <p:nvPr/>
        </p:nvSpPr>
        <p:spPr>
          <a:xfrm>
            <a:off x="1371600" y="4416552"/>
            <a:ext cx="4160520" cy="457200"/>
          </a:xfrm>
          <a:prstGeom prst="rect">
            <a:avLst/>
          </a:prstGeom>
          <a:noFill/>
          <a:ln/>
        </p:spPr>
        <p:txBody>
          <a:bodyPr wrap="square" lIns="0" tIns="0" rIns="0" bIns="0" rtlCol="0" anchor="ctr"/>
          <a:lstStyle/>
          <a:p>
            <a:pPr indent="0" marL="0">
              <a:buNone/>
            </a:pPr>
            <a:r>
              <a:rPr lang="en-US" sz="1550" b="1" dirty="0">
                <a:solidFill>
                  <a:srgbClr val="F3F1FF"/>
                </a:solidFill>
                <a:latin typeface="Arial" pitchFamily="34" charset="0"/>
                <a:ea typeface="Arial" pitchFamily="34" charset="-122"/>
                <a:cs typeface="Arial" pitchFamily="34" charset="-120"/>
              </a:rPr>
              <a:t>Opaque Neural Alternatives</a:t>
            </a:r>
            <a:endParaRPr lang="en-US" sz="1550" dirty="0"/>
          </a:p>
        </p:txBody>
      </p:sp>
      <p:sp>
        <p:nvSpPr>
          <p:cNvPr id="21" name="Text 19"/>
          <p:cNvSpPr txBox="1"/>
          <p:nvPr/>
        </p:nvSpPr>
        <p:spPr>
          <a:xfrm>
            <a:off x="713232" y="5001768"/>
            <a:ext cx="4837176" cy="1097280"/>
          </a:xfrm>
          <a:prstGeom prst="rect">
            <a:avLst/>
          </a:prstGeom>
          <a:noFill/>
          <a:ln/>
        </p:spPr>
        <p:txBody>
          <a:bodyPr wrap="square" lIns="0" tIns="0" rIns="0" bIns="0" rtlCol="0" anchor="ctr"/>
          <a:lstStyle/>
          <a:p>
            <a:pPr indent="0" marL="0">
              <a:lnSpc>
                <a:spcPct val="120000"/>
              </a:lnSpc>
              <a:buNone/>
            </a:pPr>
            <a:r>
              <a:rPr lang="en-US" sz="1200" dirty="0">
                <a:solidFill>
                  <a:srgbClr val="ABA6D6"/>
                </a:solidFill>
                <a:latin typeface="Calibri" pitchFamily="34" charset="0"/>
                <a:ea typeface="Calibri" pitchFamily="34" charset="-122"/>
                <a:cs typeface="Calibri" pitchFamily="34" charset="-120"/>
              </a:rPr>
              <a:t>Learned policies (RL / deep nets) adapt but act as black boxes — designers cannot inspect, trust or edit their reasoning.</a:t>
            </a:r>
            <a:endParaRPr lang="en-US" sz="1200" dirty="0"/>
          </a:p>
        </p:txBody>
      </p:sp>
      <p:sp>
        <p:nvSpPr>
          <p:cNvPr id="22" name="Shape 20"/>
          <p:cNvSpPr/>
          <p:nvPr/>
        </p:nvSpPr>
        <p:spPr>
          <a:xfrm>
            <a:off x="6382512" y="4160520"/>
            <a:ext cx="5349240" cy="2148840"/>
          </a:xfrm>
          <a:prstGeom prst="roundRect">
            <a:avLst>
              <a:gd name="adj" fmla="val 3404"/>
            </a:avLst>
          </a:prstGeom>
          <a:solidFill>
            <a:srgbClr val="16163A"/>
          </a:solidFill>
          <a:ln/>
          <a:effectLst>
            <a:outerShdw sx="100000" sy="100000" kx="0" ky="0" algn="bl" rotWithShape="0" blurRad="101600" dist="38100" dir="5400000">
              <a:srgbClr val="000000">
                <a:alpha val="35000"/>
              </a:srgbClr>
            </a:outerShdw>
          </a:effectLst>
        </p:spPr>
      </p:sp>
      <p:sp>
        <p:nvSpPr>
          <p:cNvPr id="23" name="Shape 21"/>
          <p:cNvSpPr/>
          <p:nvPr/>
        </p:nvSpPr>
        <p:spPr>
          <a:xfrm>
            <a:off x="6638544" y="4416552"/>
            <a:ext cx="502920" cy="502920"/>
          </a:xfrm>
          <a:prstGeom prst="hexagon">
            <a:avLst/>
          </a:prstGeom>
          <a:solidFill>
            <a:srgbClr val="FF3B5C"/>
          </a:solidFill>
          <a:ln/>
        </p:spPr>
      </p:sp>
      <p:sp>
        <p:nvSpPr>
          <p:cNvPr id="24" name="Text 22"/>
          <p:cNvSpPr txBox="1"/>
          <p:nvPr/>
        </p:nvSpPr>
        <p:spPr>
          <a:xfrm>
            <a:off x="6638544" y="4416552"/>
            <a:ext cx="502920" cy="502920"/>
          </a:xfrm>
          <a:prstGeom prst="rect">
            <a:avLst/>
          </a:prstGeom>
          <a:noFill/>
          <a:ln/>
        </p:spPr>
        <p:txBody>
          <a:bodyPr wrap="square" lIns="0" tIns="0" rIns="0" bIns="0" rtlCol="0" anchor="ctr"/>
          <a:lstStyle/>
          <a:p>
            <a:pPr algn="ctr" indent="0" marL="0">
              <a:buNone/>
            </a:pPr>
            <a:r>
              <a:rPr lang="en-US" sz="1430" b="1" dirty="0">
                <a:solidFill>
                  <a:srgbClr val="F3F1FF"/>
                </a:solidFill>
                <a:latin typeface="Arial" pitchFamily="34" charset="0"/>
                <a:ea typeface="Arial" pitchFamily="34" charset="-122"/>
                <a:cs typeface="Arial" pitchFamily="34" charset="-120"/>
              </a:rPr>
              <a:t>4</a:t>
            </a:r>
            <a:endParaRPr lang="en-US" sz="1430" dirty="0"/>
          </a:p>
        </p:txBody>
      </p:sp>
      <p:sp>
        <p:nvSpPr>
          <p:cNvPr id="25" name="Text 23"/>
          <p:cNvSpPr txBox="1"/>
          <p:nvPr/>
        </p:nvSpPr>
        <p:spPr>
          <a:xfrm>
            <a:off x="7296912" y="4416552"/>
            <a:ext cx="4160520" cy="457200"/>
          </a:xfrm>
          <a:prstGeom prst="rect">
            <a:avLst/>
          </a:prstGeom>
          <a:noFill/>
          <a:ln/>
        </p:spPr>
        <p:txBody>
          <a:bodyPr wrap="square" lIns="0" tIns="0" rIns="0" bIns="0" rtlCol="0" anchor="ctr"/>
          <a:lstStyle/>
          <a:p>
            <a:pPr indent="0" marL="0">
              <a:buNone/>
            </a:pPr>
            <a:r>
              <a:rPr lang="en-US" sz="1550" b="1" dirty="0">
                <a:solidFill>
                  <a:srgbClr val="F3F1FF"/>
                </a:solidFill>
                <a:latin typeface="Arial" pitchFamily="34" charset="0"/>
                <a:ea typeface="Arial" pitchFamily="34" charset="-122"/>
                <a:cs typeface="Arial" pitchFamily="34" charset="-120"/>
              </a:rPr>
              <a:t>No Unified Game-Master Role</a:t>
            </a:r>
            <a:endParaRPr lang="en-US" sz="1550" dirty="0"/>
          </a:p>
        </p:txBody>
      </p:sp>
      <p:sp>
        <p:nvSpPr>
          <p:cNvPr id="26" name="Text 24"/>
          <p:cNvSpPr txBox="1"/>
          <p:nvPr/>
        </p:nvSpPr>
        <p:spPr>
          <a:xfrm>
            <a:off x="6638544" y="5001768"/>
            <a:ext cx="4837176" cy="1097280"/>
          </a:xfrm>
          <a:prstGeom prst="rect">
            <a:avLst/>
          </a:prstGeom>
          <a:noFill/>
          <a:ln/>
        </p:spPr>
        <p:txBody>
          <a:bodyPr wrap="square" lIns="0" tIns="0" rIns="0" bIns="0" rtlCol="0" anchor="ctr"/>
          <a:lstStyle/>
          <a:p>
            <a:pPr indent="0" marL="0">
              <a:lnSpc>
                <a:spcPct val="120000"/>
              </a:lnSpc>
              <a:buNone/>
            </a:pPr>
            <a:r>
              <a:rPr lang="en-US" sz="1200" dirty="0">
                <a:solidFill>
                  <a:srgbClr val="ABA6D6"/>
                </a:solidFill>
                <a:latin typeface="Calibri" pitchFamily="34" charset="0"/>
                <a:ea typeface="Calibri" pitchFamily="34" charset="-122"/>
                <a:cs typeface="Calibri" pitchFamily="34" charset="-120"/>
              </a:rPr>
              <a:t>Existing systems optimise a single unit's actions; none coordinate a full encounter the way a human tabletop game master would.</a:t>
            </a:r>
            <a:endParaRPr lang="en-US" sz="1200" dirty="0"/>
          </a:p>
        </p:txBody>
      </p:sp>
      <p:sp>
        <p:nvSpPr>
          <p:cNvPr id="27" name="Text 25"/>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2 · PROBLEM STATEMENT</a:t>
            </a:r>
            <a:endParaRPr lang="en-US" sz="900" dirty="0"/>
          </a:p>
        </p:txBody>
      </p:sp>
      <p:sp>
        <p:nvSpPr>
          <p:cNvPr id="28" name="Text 26"/>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29" name="Text 27"/>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3 · LITERATURE SURVEY</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Prior Work on Game AI Decision-Making</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00200"/>
            <a:ext cx="3063240" cy="502920"/>
          </a:xfrm>
          <a:prstGeom prst="rect">
            <a:avLst/>
          </a:prstGeom>
          <a:solidFill>
            <a:srgbClr val="7B2FF7"/>
          </a:solidFill>
          <a:ln/>
        </p:spPr>
      </p:sp>
      <p:sp>
        <p:nvSpPr>
          <p:cNvPr id="8" name="Text 6"/>
          <p:cNvSpPr txBox="1"/>
          <p:nvPr/>
        </p:nvSpPr>
        <p:spPr>
          <a:xfrm>
            <a:off x="594360" y="1600200"/>
            <a:ext cx="2788920" cy="502920"/>
          </a:xfrm>
          <a:prstGeom prst="rect">
            <a:avLst/>
          </a:prstGeom>
          <a:noFill/>
          <a:ln/>
        </p:spPr>
        <p:txBody>
          <a:bodyPr wrap="square" lIns="0" tIns="0" rIns="0" bIns="0" rtlCol="0" anchor="ctr"/>
          <a:lstStyle/>
          <a:p>
            <a:pPr indent="0" marL="0">
              <a:buNone/>
            </a:pPr>
            <a:r>
              <a:rPr lang="en-US" sz="1250" b="1" dirty="0">
                <a:solidFill>
                  <a:srgbClr val="F3F1FF"/>
                </a:solidFill>
                <a:latin typeface="Arial" pitchFamily="34" charset="0"/>
                <a:ea typeface="Arial" pitchFamily="34" charset="-122"/>
                <a:cs typeface="Arial" pitchFamily="34" charset="-120"/>
              </a:rPr>
              <a:t>Author / Year</a:t>
            </a:r>
            <a:endParaRPr lang="en-US" sz="1250" dirty="0"/>
          </a:p>
        </p:txBody>
      </p:sp>
      <p:sp>
        <p:nvSpPr>
          <p:cNvPr id="9" name="Shape 7"/>
          <p:cNvSpPr/>
          <p:nvPr/>
        </p:nvSpPr>
        <p:spPr>
          <a:xfrm>
            <a:off x="3520440" y="1600200"/>
            <a:ext cx="4480560" cy="502920"/>
          </a:xfrm>
          <a:prstGeom prst="rect">
            <a:avLst/>
          </a:prstGeom>
          <a:solidFill>
            <a:srgbClr val="7B2FF7"/>
          </a:solidFill>
          <a:ln/>
        </p:spPr>
      </p:sp>
      <p:sp>
        <p:nvSpPr>
          <p:cNvPr id="10" name="Text 8"/>
          <p:cNvSpPr txBox="1"/>
          <p:nvPr/>
        </p:nvSpPr>
        <p:spPr>
          <a:xfrm>
            <a:off x="3657600" y="1600200"/>
            <a:ext cx="4206240" cy="502920"/>
          </a:xfrm>
          <a:prstGeom prst="rect">
            <a:avLst/>
          </a:prstGeom>
          <a:noFill/>
          <a:ln/>
        </p:spPr>
        <p:txBody>
          <a:bodyPr wrap="square" lIns="0" tIns="0" rIns="0" bIns="0" rtlCol="0" anchor="ctr"/>
          <a:lstStyle/>
          <a:p>
            <a:pPr indent="0" marL="0">
              <a:buNone/>
            </a:pPr>
            <a:r>
              <a:rPr lang="en-US" sz="1250" b="1" dirty="0">
                <a:solidFill>
                  <a:srgbClr val="F3F1FF"/>
                </a:solidFill>
                <a:latin typeface="Arial" pitchFamily="34" charset="0"/>
                <a:ea typeface="Arial" pitchFamily="34" charset="-122"/>
                <a:cs typeface="Arial" pitchFamily="34" charset="-120"/>
              </a:rPr>
              <a:t>Approach</a:t>
            </a:r>
            <a:endParaRPr lang="en-US" sz="1250" dirty="0"/>
          </a:p>
        </p:txBody>
      </p:sp>
      <p:sp>
        <p:nvSpPr>
          <p:cNvPr id="11" name="Shape 9"/>
          <p:cNvSpPr/>
          <p:nvPr/>
        </p:nvSpPr>
        <p:spPr>
          <a:xfrm>
            <a:off x="8001000" y="1600200"/>
            <a:ext cx="3730752" cy="502920"/>
          </a:xfrm>
          <a:prstGeom prst="rect">
            <a:avLst/>
          </a:prstGeom>
          <a:solidFill>
            <a:srgbClr val="7B2FF7"/>
          </a:solidFill>
          <a:ln/>
        </p:spPr>
      </p:sp>
      <p:sp>
        <p:nvSpPr>
          <p:cNvPr id="12" name="Text 10"/>
          <p:cNvSpPr txBox="1"/>
          <p:nvPr/>
        </p:nvSpPr>
        <p:spPr>
          <a:xfrm>
            <a:off x="8138160" y="1600200"/>
            <a:ext cx="3456432" cy="502920"/>
          </a:xfrm>
          <a:prstGeom prst="rect">
            <a:avLst/>
          </a:prstGeom>
          <a:noFill/>
          <a:ln/>
        </p:spPr>
        <p:txBody>
          <a:bodyPr wrap="square" lIns="0" tIns="0" rIns="0" bIns="0" rtlCol="0" anchor="ctr"/>
          <a:lstStyle/>
          <a:p>
            <a:pPr indent="0" marL="0">
              <a:buNone/>
            </a:pPr>
            <a:r>
              <a:rPr lang="en-US" sz="1250" b="1" dirty="0">
                <a:solidFill>
                  <a:srgbClr val="F3F1FF"/>
                </a:solidFill>
                <a:latin typeface="Arial" pitchFamily="34" charset="0"/>
                <a:ea typeface="Arial" pitchFamily="34" charset="-122"/>
                <a:cs typeface="Arial" pitchFamily="34" charset="-120"/>
              </a:rPr>
              <a:t>Key Limitation</a:t>
            </a:r>
            <a:endParaRPr lang="en-US" sz="1250" dirty="0"/>
          </a:p>
        </p:txBody>
      </p:sp>
      <p:sp>
        <p:nvSpPr>
          <p:cNvPr id="13" name="Shape 11"/>
          <p:cNvSpPr/>
          <p:nvPr/>
        </p:nvSpPr>
        <p:spPr>
          <a:xfrm>
            <a:off x="457200" y="2103120"/>
            <a:ext cx="3063240" cy="658368"/>
          </a:xfrm>
          <a:prstGeom prst="rect">
            <a:avLst/>
          </a:prstGeom>
          <a:solidFill>
            <a:srgbClr val="1D1D48"/>
          </a:solidFill>
          <a:ln w="9525">
            <a:solidFill>
              <a:srgbClr val="33335C"/>
            </a:solidFill>
            <a:prstDash val="solid"/>
          </a:ln>
        </p:spPr>
      </p:sp>
      <p:sp>
        <p:nvSpPr>
          <p:cNvPr id="14" name="Text 12"/>
          <p:cNvSpPr txBox="1"/>
          <p:nvPr/>
        </p:nvSpPr>
        <p:spPr>
          <a:xfrm>
            <a:off x="594360" y="2103120"/>
            <a:ext cx="278892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Orkin, 2006</a:t>
            </a:r>
            <a:endParaRPr lang="en-US" sz="1100" dirty="0"/>
          </a:p>
        </p:txBody>
      </p:sp>
      <p:sp>
        <p:nvSpPr>
          <p:cNvPr id="15" name="Shape 13"/>
          <p:cNvSpPr/>
          <p:nvPr/>
        </p:nvSpPr>
        <p:spPr>
          <a:xfrm>
            <a:off x="3520440" y="2103120"/>
            <a:ext cx="4480560" cy="658368"/>
          </a:xfrm>
          <a:prstGeom prst="rect">
            <a:avLst/>
          </a:prstGeom>
          <a:solidFill>
            <a:srgbClr val="1D1D48"/>
          </a:solidFill>
          <a:ln w="9525">
            <a:solidFill>
              <a:srgbClr val="33335C"/>
            </a:solidFill>
            <a:prstDash val="solid"/>
          </a:ln>
        </p:spPr>
      </p:sp>
      <p:sp>
        <p:nvSpPr>
          <p:cNvPr id="16" name="Text 14"/>
          <p:cNvSpPr txBox="1"/>
          <p:nvPr/>
        </p:nvSpPr>
        <p:spPr>
          <a:xfrm>
            <a:off x="3657600" y="2103120"/>
            <a:ext cx="420624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Goal-Oriented Action Planning (F.E.A.R.)</a:t>
            </a:r>
            <a:endParaRPr lang="en-US" sz="1100" dirty="0"/>
          </a:p>
        </p:txBody>
      </p:sp>
      <p:sp>
        <p:nvSpPr>
          <p:cNvPr id="17" name="Shape 15"/>
          <p:cNvSpPr/>
          <p:nvPr/>
        </p:nvSpPr>
        <p:spPr>
          <a:xfrm>
            <a:off x="8001000" y="2103120"/>
            <a:ext cx="3730752" cy="658368"/>
          </a:xfrm>
          <a:prstGeom prst="rect">
            <a:avLst/>
          </a:prstGeom>
          <a:solidFill>
            <a:srgbClr val="1D1D48"/>
          </a:solidFill>
          <a:ln w="9525">
            <a:solidFill>
              <a:srgbClr val="33335C"/>
            </a:solidFill>
            <a:prstDash val="solid"/>
          </a:ln>
        </p:spPr>
      </p:sp>
      <p:sp>
        <p:nvSpPr>
          <p:cNvPr id="18" name="Text 16"/>
          <p:cNvSpPr txBox="1"/>
          <p:nvPr/>
        </p:nvSpPr>
        <p:spPr>
          <a:xfrm>
            <a:off x="8138160" y="2103120"/>
            <a:ext cx="3456432" cy="658368"/>
          </a:xfrm>
          <a:prstGeom prst="rect">
            <a:avLst/>
          </a:prstGeom>
          <a:noFill/>
          <a:ln/>
        </p:spPr>
        <p:txBody>
          <a:bodyPr wrap="square" lIns="0" tIns="0" rIns="0" bIns="0" rtlCol="0" anchor="ctr"/>
          <a:lstStyle/>
          <a:p>
            <a:pPr indent="0" marL="0">
              <a:buNone/>
            </a:pPr>
            <a:r>
              <a:rPr lang="en-US" sz="1100" i="1" dirty="0">
                <a:solidFill>
                  <a:srgbClr val="ABA6D6"/>
                </a:solidFill>
                <a:latin typeface="Calibri" pitchFamily="34" charset="0"/>
                <a:ea typeface="Calibri" pitchFamily="34" charset="-122"/>
                <a:cs typeface="Calibri" pitchFamily="34" charset="-120"/>
              </a:rPr>
              <a:t>Fixed goal set; no player-adaptive difficulty</a:t>
            </a:r>
            <a:endParaRPr lang="en-US" sz="1100" dirty="0"/>
          </a:p>
        </p:txBody>
      </p:sp>
      <p:sp>
        <p:nvSpPr>
          <p:cNvPr id="19" name="Shape 17"/>
          <p:cNvSpPr/>
          <p:nvPr/>
        </p:nvSpPr>
        <p:spPr>
          <a:xfrm>
            <a:off x="457200" y="2761488"/>
            <a:ext cx="3063240" cy="658368"/>
          </a:xfrm>
          <a:prstGeom prst="rect">
            <a:avLst/>
          </a:prstGeom>
          <a:solidFill>
            <a:srgbClr val="16163A"/>
          </a:solidFill>
          <a:ln w="9525">
            <a:solidFill>
              <a:srgbClr val="33335C"/>
            </a:solidFill>
            <a:prstDash val="solid"/>
          </a:ln>
        </p:spPr>
      </p:sp>
      <p:sp>
        <p:nvSpPr>
          <p:cNvPr id="20" name="Text 18"/>
          <p:cNvSpPr txBox="1"/>
          <p:nvPr/>
        </p:nvSpPr>
        <p:spPr>
          <a:xfrm>
            <a:off x="594360" y="2761488"/>
            <a:ext cx="278892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Isla, 2005</a:t>
            </a:r>
            <a:endParaRPr lang="en-US" sz="1100" dirty="0"/>
          </a:p>
        </p:txBody>
      </p:sp>
      <p:sp>
        <p:nvSpPr>
          <p:cNvPr id="21" name="Shape 19"/>
          <p:cNvSpPr/>
          <p:nvPr/>
        </p:nvSpPr>
        <p:spPr>
          <a:xfrm>
            <a:off x="3520440" y="2761488"/>
            <a:ext cx="4480560" cy="658368"/>
          </a:xfrm>
          <a:prstGeom prst="rect">
            <a:avLst/>
          </a:prstGeom>
          <a:solidFill>
            <a:srgbClr val="16163A"/>
          </a:solidFill>
          <a:ln w="9525">
            <a:solidFill>
              <a:srgbClr val="33335C"/>
            </a:solidFill>
            <a:prstDash val="solid"/>
          </a:ln>
        </p:spPr>
      </p:sp>
      <p:sp>
        <p:nvSpPr>
          <p:cNvPr id="22" name="Text 20"/>
          <p:cNvSpPr txBox="1"/>
          <p:nvPr/>
        </p:nvSpPr>
        <p:spPr>
          <a:xfrm>
            <a:off x="3657600" y="2761488"/>
            <a:ext cx="420624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Behaviour Trees (Halo 2)</a:t>
            </a:r>
            <a:endParaRPr lang="en-US" sz="1100" dirty="0"/>
          </a:p>
        </p:txBody>
      </p:sp>
      <p:sp>
        <p:nvSpPr>
          <p:cNvPr id="23" name="Shape 21"/>
          <p:cNvSpPr/>
          <p:nvPr/>
        </p:nvSpPr>
        <p:spPr>
          <a:xfrm>
            <a:off x="8001000" y="2761488"/>
            <a:ext cx="3730752" cy="658368"/>
          </a:xfrm>
          <a:prstGeom prst="rect">
            <a:avLst/>
          </a:prstGeom>
          <a:solidFill>
            <a:srgbClr val="16163A"/>
          </a:solidFill>
          <a:ln w="9525">
            <a:solidFill>
              <a:srgbClr val="33335C"/>
            </a:solidFill>
            <a:prstDash val="solid"/>
          </a:ln>
        </p:spPr>
      </p:sp>
      <p:sp>
        <p:nvSpPr>
          <p:cNvPr id="24" name="Text 22"/>
          <p:cNvSpPr txBox="1"/>
          <p:nvPr/>
        </p:nvSpPr>
        <p:spPr>
          <a:xfrm>
            <a:off x="8138160" y="2761488"/>
            <a:ext cx="3456432" cy="658368"/>
          </a:xfrm>
          <a:prstGeom prst="rect">
            <a:avLst/>
          </a:prstGeom>
          <a:noFill/>
          <a:ln/>
        </p:spPr>
        <p:txBody>
          <a:bodyPr wrap="square" lIns="0" tIns="0" rIns="0" bIns="0" rtlCol="0" anchor="ctr"/>
          <a:lstStyle/>
          <a:p>
            <a:pPr indent="0" marL="0">
              <a:buNone/>
            </a:pPr>
            <a:r>
              <a:rPr lang="en-US" sz="1100" i="1" dirty="0">
                <a:solidFill>
                  <a:srgbClr val="ABA6D6"/>
                </a:solidFill>
                <a:latin typeface="Calibri" pitchFamily="34" charset="0"/>
                <a:ea typeface="Calibri" pitchFamily="34" charset="-122"/>
                <a:cs typeface="Calibri" pitchFamily="34" charset="-120"/>
              </a:rPr>
              <a:t>Scales well but purely scripted, non-adaptive</a:t>
            </a:r>
            <a:endParaRPr lang="en-US" sz="1100" dirty="0"/>
          </a:p>
        </p:txBody>
      </p:sp>
      <p:sp>
        <p:nvSpPr>
          <p:cNvPr id="25" name="Shape 23"/>
          <p:cNvSpPr/>
          <p:nvPr/>
        </p:nvSpPr>
        <p:spPr>
          <a:xfrm>
            <a:off x="457200" y="3419856"/>
            <a:ext cx="3063240" cy="658368"/>
          </a:xfrm>
          <a:prstGeom prst="rect">
            <a:avLst/>
          </a:prstGeom>
          <a:solidFill>
            <a:srgbClr val="1D1D48"/>
          </a:solidFill>
          <a:ln w="9525">
            <a:solidFill>
              <a:srgbClr val="33335C"/>
            </a:solidFill>
            <a:prstDash val="solid"/>
          </a:ln>
        </p:spPr>
      </p:sp>
      <p:sp>
        <p:nvSpPr>
          <p:cNvPr id="26" name="Text 24"/>
          <p:cNvSpPr txBox="1"/>
          <p:nvPr/>
        </p:nvSpPr>
        <p:spPr>
          <a:xfrm>
            <a:off x="594360" y="3419856"/>
            <a:ext cx="278892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Champandard, 2007</a:t>
            </a:r>
            <a:endParaRPr lang="en-US" sz="1100" dirty="0"/>
          </a:p>
        </p:txBody>
      </p:sp>
      <p:sp>
        <p:nvSpPr>
          <p:cNvPr id="27" name="Shape 25"/>
          <p:cNvSpPr/>
          <p:nvPr/>
        </p:nvSpPr>
        <p:spPr>
          <a:xfrm>
            <a:off x="3520440" y="3419856"/>
            <a:ext cx="4480560" cy="658368"/>
          </a:xfrm>
          <a:prstGeom prst="rect">
            <a:avLst/>
          </a:prstGeom>
          <a:solidFill>
            <a:srgbClr val="1D1D48"/>
          </a:solidFill>
          <a:ln w="9525">
            <a:solidFill>
              <a:srgbClr val="33335C"/>
            </a:solidFill>
            <a:prstDash val="solid"/>
          </a:ln>
        </p:spPr>
      </p:sp>
      <p:sp>
        <p:nvSpPr>
          <p:cNvPr id="28" name="Text 26"/>
          <p:cNvSpPr txBox="1"/>
          <p:nvPr/>
        </p:nvSpPr>
        <p:spPr>
          <a:xfrm>
            <a:off x="3657600" y="3419856"/>
            <a:ext cx="420624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Modular Behaviour Trees</a:t>
            </a:r>
            <a:endParaRPr lang="en-US" sz="1100" dirty="0"/>
          </a:p>
        </p:txBody>
      </p:sp>
      <p:sp>
        <p:nvSpPr>
          <p:cNvPr id="29" name="Shape 27"/>
          <p:cNvSpPr/>
          <p:nvPr/>
        </p:nvSpPr>
        <p:spPr>
          <a:xfrm>
            <a:off x="8001000" y="3419856"/>
            <a:ext cx="3730752" cy="658368"/>
          </a:xfrm>
          <a:prstGeom prst="rect">
            <a:avLst/>
          </a:prstGeom>
          <a:solidFill>
            <a:srgbClr val="1D1D48"/>
          </a:solidFill>
          <a:ln w="9525">
            <a:solidFill>
              <a:srgbClr val="33335C"/>
            </a:solidFill>
            <a:prstDash val="solid"/>
          </a:ln>
        </p:spPr>
      </p:sp>
      <p:sp>
        <p:nvSpPr>
          <p:cNvPr id="30" name="Text 28"/>
          <p:cNvSpPr txBox="1"/>
          <p:nvPr/>
        </p:nvSpPr>
        <p:spPr>
          <a:xfrm>
            <a:off x="8138160" y="3419856"/>
            <a:ext cx="3456432" cy="658368"/>
          </a:xfrm>
          <a:prstGeom prst="rect">
            <a:avLst/>
          </a:prstGeom>
          <a:noFill/>
          <a:ln/>
        </p:spPr>
        <p:txBody>
          <a:bodyPr wrap="square" lIns="0" tIns="0" rIns="0" bIns="0" rtlCol="0" anchor="ctr"/>
          <a:lstStyle/>
          <a:p>
            <a:pPr indent="0" marL="0">
              <a:buNone/>
            </a:pPr>
            <a:r>
              <a:rPr lang="en-US" sz="1100" i="1" dirty="0">
                <a:solidFill>
                  <a:srgbClr val="ABA6D6"/>
                </a:solidFill>
                <a:latin typeface="Calibri" pitchFamily="34" charset="0"/>
                <a:ea typeface="Calibri" pitchFamily="34" charset="-122"/>
                <a:cs typeface="Calibri" pitchFamily="34" charset="-120"/>
              </a:rPr>
              <a:t>Reusable nodes, yet reasoning stays implicit / hard to explain</a:t>
            </a:r>
            <a:endParaRPr lang="en-US" sz="1100" dirty="0"/>
          </a:p>
        </p:txBody>
      </p:sp>
      <p:sp>
        <p:nvSpPr>
          <p:cNvPr id="31" name="Shape 29"/>
          <p:cNvSpPr/>
          <p:nvPr/>
        </p:nvSpPr>
        <p:spPr>
          <a:xfrm>
            <a:off x="457200" y="4078224"/>
            <a:ext cx="3063240" cy="658368"/>
          </a:xfrm>
          <a:prstGeom prst="rect">
            <a:avLst/>
          </a:prstGeom>
          <a:solidFill>
            <a:srgbClr val="16163A"/>
          </a:solidFill>
          <a:ln w="9525">
            <a:solidFill>
              <a:srgbClr val="33335C"/>
            </a:solidFill>
            <a:prstDash val="solid"/>
          </a:ln>
        </p:spPr>
      </p:sp>
      <p:sp>
        <p:nvSpPr>
          <p:cNvPr id="32" name="Text 30"/>
          <p:cNvSpPr txBox="1"/>
          <p:nvPr/>
        </p:nvSpPr>
        <p:spPr>
          <a:xfrm>
            <a:off x="594360" y="4078224"/>
            <a:ext cx="278892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Yannakakis &amp; Togelius, 2011</a:t>
            </a:r>
            <a:endParaRPr lang="en-US" sz="1100" dirty="0"/>
          </a:p>
        </p:txBody>
      </p:sp>
      <p:sp>
        <p:nvSpPr>
          <p:cNvPr id="33" name="Shape 31"/>
          <p:cNvSpPr/>
          <p:nvPr/>
        </p:nvSpPr>
        <p:spPr>
          <a:xfrm>
            <a:off x="3520440" y="4078224"/>
            <a:ext cx="4480560" cy="658368"/>
          </a:xfrm>
          <a:prstGeom prst="rect">
            <a:avLst/>
          </a:prstGeom>
          <a:solidFill>
            <a:srgbClr val="16163A"/>
          </a:solidFill>
          <a:ln w="9525">
            <a:solidFill>
              <a:srgbClr val="33335C"/>
            </a:solidFill>
            <a:prstDash val="solid"/>
          </a:ln>
        </p:spPr>
      </p:sp>
      <p:sp>
        <p:nvSpPr>
          <p:cNvPr id="34" name="Text 32"/>
          <p:cNvSpPr txBox="1"/>
          <p:nvPr/>
        </p:nvSpPr>
        <p:spPr>
          <a:xfrm>
            <a:off x="3657600" y="4078224"/>
            <a:ext cx="420624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Experience-Driven Procedural Content Generation</a:t>
            </a:r>
            <a:endParaRPr lang="en-US" sz="1100" dirty="0"/>
          </a:p>
        </p:txBody>
      </p:sp>
      <p:sp>
        <p:nvSpPr>
          <p:cNvPr id="35" name="Shape 33"/>
          <p:cNvSpPr/>
          <p:nvPr/>
        </p:nvSpPr>
        <p:spPr>
          <a:xfrm>
            <a:off x="8001000" y="4078224"/>
            <a:ext cx="3730752" cy="658368"/>
          </a:xfrm>
          <a:prstGeom prst="rect">
            <a:avLst/>
          </a:prstGeom>
          <a:solidFill>
            <a:srgbClr val="16163A"/>
          </a:solidFill>
          <a:ln w="9525">
            <a:solidFill>
              <a:srgbClr val="33335C"/>
            </a:solidFill>
            <a:prstDash val="solid"/>
          </a:ln>
        </p:spPr>
      </p:sp>
      <p:sp>
        <p:nvSpPr>
          <p:cNvPr id="36" name="Text 34"/>
          <p:cNvSpPr txBox="1"/>
          <p:nvPr/>
        </p:nvSpPr>
        <p:spPr>
          <a:xfrm>
            <a:off x="8138160" y="4078224"/>
            <a:ext cx="3456432" cy="658368"/>
          </a:xfrm>
          <a:prstGeom prst="rect">
            <a:avLst/>
          </a:prstGeom>
          <a:noFill/>
          <a:ln/>
        </p:spPr>
        <p:txBody>
          <a:bodyPr wrap="square" lIns="0" tIns="0" rIns="0" bIns="0" rtlCol="0" anchor="ctr"/>
          <a:lstStyle/>
          <a:p>
            <a:pPr indent="0" marL="0">
              <a:buNone/>
            </a:pPr>
            <a:r>
              <a:rPr lang="en-US" sz="1100" i="1" dirty="0">
                <a:solidFill>
                  <a:srgbClr val="ABA6D6"/>
                </a:solidFill>
                <a:latin typeface="Calibri" pitchFamily="34" charset="0"/>
                <a:ea typeface="Calibri" pitchFamily="34" charset="-122"/>
                <a:cs typeface="Calibri" pitchFamily="34" charset="-120"/>
              </a:rPr>
              <a:t>Adapts content, not real-time combat tactics</a:t>
            </a:r>
            <a:endParaRPr lang="en-US" sz="1100" dirty="0"/>
          </a:p>
        </p:txBody>
      </p:sp>
      <p:sp>
        <p:nvSpPr>
          <p:cNvPr id="37" name="Shape 35"/>
          <p:cNvSpPr/>
          <p:nvPr/>
        </p:nvSpPr>
        <p:spPr>
          <a:xfrm>
            <a:off x="457200" y="4736592"/>
            <a:ext cx="3063240" cy="658368"/>
          </a:xfrm>
          <a:prstGeom prst="rect">
            <a:avLst/>
          </a:prstGeom>
          <a:solidFill>
            <a:srgbClr val="1D1D48"/>
          </a:solidFill>
          <a:ln w="9525">
            <a:solidFill>
              <a:srgbClr val="33335C"/>
            </a:solidFill>
            <a:prstDash val="solid"/>
          </a:ln>
        </p:spPr>
      </p:sp>
      <p:sp>
        <p:nvSpPr>
          <p:cNvPr id="38" name="Text 36"/>
          <p:cNvSpPr txBox="1"/>
          <p:nvPr/>
        </p:nvSpPr>
        <p:spPr>
          <a:xfrm>
            <a:off x="594360" y="4736592"/>
            <a:ext cx="278892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Classic Expert Systems (Prolog / CLIPS)</a:t>
            </a:r>
            <a:endParaRPr lang="en-US" sz="1100" dirty="0"/>
          </a:p>
        </p:txBody>
      </p:sp>
      <p:sp>
        <p:nvSpPr>
          <p:cNvPr id="39" name="Shape 37"/>
          <p:cNvSpPr/>
          <p:nvPr/>
        </p:nvSpPr>
        <p:spPr>
          <a:xfrm>
            <a:off x="3520440" y="4736592"/>
            <a:ext cx="4480560" cy="658368"/>
          </a:xfrm>
          <a:prstGeom prst="rect">
            <a:avLst/>
          </a:prstGeom>
          <a:solidFill>
            <a:srgbClr val="1D1D48"/>
          </a:solidFill>
          <a:ln w="9525">
            <a:solidFill>
              <a:srgbClr val="33335C"/>
            </a:solidFill>
            <a:prstDash val="solid"/>
          </a:ln>
        </p:spPr>
      </p:sp>
      <p:sp>
        <p:nvSpPr>
          <p:cNvPr id="40" name="Text 38"/>
          <p:cNvSpPr txBox="1"/>
          <p:nvPr/>
        </p:nvSpPr>
        <p:spPr>
          <a:xfrm>
            <a:off x="3657600" y="4736592"/>
            <a:ext cx="420624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Forward-chaining rule engines</a:t>
            </a:r>
            <a:endParaRPr lang="en-US" sz="1100" dirty="0"/>
          </a:p>
        </p:txBody>
      </p:sp>
      <p:sp>
        <p:nvSpPr>
          <p:cNvPr id="41" name="Shape 39"/>
          <p:cNvSpPr/>
          <p:nvPr/>
        </p:nvSpPr>
        <p:spPr>
          <a:xfrm>
            <a:off x="8001000" y="4736592"/>
            <a:ext cx="3730752" cy="658368"/>
          </a:xfrm>
          <a:prstGeom prst="rect">
            <a:avLst/>
          </a:prstGeom>
          <a:solidFill>
            <a:srgbClr val="1D1D48"/>
          </a:solidFill>
          <a:ln w="9525">
            <a:solidFill>
              <a:srgbClr val="33335C"/>
            </a:solidFill>
            <a:prstDash val="solid"/>
          </a:ln>
        </p:spPr>
      </p:sp>
      <p:sp>
        <p:nvSpPr>
          <p:cNvPr id="42" name="Text 40"/>
          <p:cNvSpPr txBox="1"/>
          <p:nvPr/>
        </p:nvSpPr>
        <p:spPr>
          <a:xfrm>
            <a:off x="8138160" y="4736592"/>
            <a:ext cx="3456432" cy="658368"/>
          </a:xfrm>
          <a:prstGeom prst="rect">
            <a:avLst/>
          </a:prstGeom>
          <a:noFill/>
          <a:ln/>
        </p:spPr>
        <p:txBody>
          <a:bodyPr wrap="square" lIns="0" tIns="0" rIns="0" bIns="0" rtlCol="0" anchor="ctr"/>
          <a:lstStyle/>
          <a:p>
            <a:pPr indent="0" marL="0">
              <a:buNone/>
            </a:pPr>
            <a:r>
              <a:rPr lang="en-US" sz="1100" i="1" dirty="0">
                <a:solidFill>
                  <a:srgbClr val="ABA6D6"/>
                </a:solidFill>
                <a:latin typeface="Calibri" pitchFamily="34" charset="0"/>
                <a:ea typeface="Calibri" pitchFamily="34" charset="-122"/>
                <a:cs typeface="Calibri" pitchFamily="34" charset="-120"/>
              </a:rPr>
              <a:t>Fully explainable but rigid — no automated planning</a:t>
            </a:r>
            <a:endParaRPr lang="en-US" sz="1100" dirty="0"/>
          </a:p>
        </p:txBody>
      </p:sp>
      <p:sp>
        <p:nvSpPr>
          <p:cNvPr id="43" name="Shape 41"/>
          <p:cNvSpPr/>
          <p:nvPr/>
        </p:nvSpPr>
        <p:spPr>
          <a:xfrm>
            <a:off x="457200" y="5394960"/>
            <a:ext cx="3063240" cy="658368"/>
          </a:xfrm>
          <a:prstGeom prst="rect">
            <a:avLst/>
          </a:prstGeom>
          <a:solidFill>
            <a:srgbClr val="16163A"/>
          </a:solidFill>
          <a:ln w="9525">
            <a:solidFill>
              <a:srgbClr val="33335C"/>
            </a:solidFill>
            <a:prstDash val="solid"/>
          </a:ln>
        </p:spPr>
      </p:sp>
      <p:sp>
        <p:nvSpPr>
          <p:cNvPr id="44" name="Text 42"/>
          <p:cNvSpPr txBox="1"/>
          <p:nvPr/>
        </p:nvSpPr>
        <p:spPr>
          <a:xfrm>
            <a:off x="594360" y="5394960"/>
            <a:ext cx="278892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Deep RL Game Agents (AlphaStar-style)</a:t>
            </a:r>
            <a:endParaRPr lang="en-US" sz="1100" dirty="0"/>
          </a:p>
        </p:txBody>
      </p:sp>
      <p:sp>
        <p:nvSpPr>
          <p:cNvPr id="45" name="Shape 43"/>
          <p:cNvSpPr/>
          <p:nvPr/>
        </p:nvSpPr>
        <p:spPr>
          <a:xfrm>
            <a:off x="3520440" y="5394960"/>
            <a:ext cx="4480560" cy="658368"/>
          </a:xfrm>
          <a:prstGeom prst="rect">
            <a:avLst/>
          </a:prstGeom>
          <a:solidFill>
            <a:srgbClr val="16163A"/>
          </a:solidFill>
          <a:ln w="9525">
            <a:solidFill>
              <a:srgbClr val="33335C"/>
            </a:solidFill>
            <a:prstDash val="solid"/>
          </a:ln>
        </p:spPr>
      </p:sp>
      <p:sp>
        <p:nvSpPr>
          <p:cNvPr id="46" name="Text 44"/>
          <p:cNvSpPr txBox="1"/>
          <p:nvPr/>
        </p:nvSpPr>
        <p:spPr>
          <a:xfrm>
            <a:off x="3657600" y="5394960"/>
            <a:ext cx="4206240" cy="658368"/>
          </a:xfrm>
          <a:prstGeom prst="rect">
            <a:avLst/>
          </a:prstGeom>
          <a:noFill/>
          <a:ln/>
        </p:spPr>
        <p:txBody>
          <a:bodyPr wrap="square" lIns="0" tIns="0" rIns="0" bIns="0" rtlCol="0" anchor="ctr"/>
          <a:lstStyle/>
          <a:p>
            <a:pPr indent="0" marL="0">
              <a:buNone/>
            </a:pPr>
            <a:r>
              <a:rPr lang="en-US" sz="1100" dirty="0">
                <a:solidFill>
                  <a:srgbClr val="F3F1FF"/>
                </a:solidFill>
                <a:latin typeface="Calibri" pitchFamily="34" charset="0"/>
                <a:ea typeface="Calibri" pitchFamily="34" charset="-122"/>
                <a:cs typeface="Calibri" pitchFamily="34" charset="-120"/>
              </a:rPr>
              <a:t>Learned neural policies</a:t>
            </a:r>
            <a:endParaRPr lang="en-US" sz="1100" dirty="0"/>
          </a:p>
        </p:txBody>
      </p:sp>
      <p:sp>
        <p:nvSpPr>
          <p:cNvPr id="47" name="Shape 45"/>
          <p:cNvSpPr/>
          <p:nvPr/>
        </p:nvSpPr>
        <p:spPr>
          <a:xfrm>
            <a:off x="8001000" y="5394960"/>
            <a:ext cx="3730752" cy="658368"/>
          </a:xfrm>
          <a:prstGeom prst="rect">
            <a:avLst/>
          </a:prstGeom>
          <a:solidFill>
            <a:srgbClr val="16163A"/>
          </a:solidFill>
          <a:ln w="9525">
            <a:solidFill>
              <a:srgbClr val="33335C"/>
            </a:solidFill>
            <a:prstDash val="solid"/>
          </a:ln>
        </p:spPr>
      </p:sp>
      <p:sp>
        <p:nvSpPr>
          <p:cNvPr id="48" name="Text 46"/>
          <p:cNvSpPr txBox="1"/>
          <p:nvPr/>
        </p:nvSpPr>
        <p:spPr>
          <a:xfrm>
            <a:off x="8138160" y="5394960"/>
            <a:ext cx="3456432" cy="658368"/>
          </a:xfrm>
          <a:prstGeom prst="rect">
            <a:avLst/>
          </a:prstGeom>
          <a:noFill/>
          <a:ln/>
        </p:spPr>
        <p:txBody>
          <a:bodyPr wrap="square" lIns="0" tIns="0" rIns="0" bIns="0" rtlCol="0" anchor="ctr"/>
          <a:lstStyle/>
          <a:p>
            <a:pPr indent="0" marL="0">
              <a:buNone/>
            </a:pPr>
            <a:r>
              <a:rPr lang="en-US" sz="1100" i="1" dirty="0">
                <a:solidFill>
                  <a:srgbClr val="ABA6D6"/>
                </a:solidFill>
                <a:latin typeface="Calibri" pitchFamily="34" charset="0"/>
                <a:ea typeface="Calibri" pitchFamily="34" charset="-122"/>
                <a:cs typeface="Calibri" pitchFamily="34" charset="-120"/>
              </a:rPr>
              <a:t>Strong adaptivity, but opaque and data-hungry</a:t>
            </a:r>
            <a:endParaRPr lang="en-US" sz="1100" dirty="0"/>
          </a:p>
        </p:txBody>
      </p:sp>
      <p:sp>
        <p:nvSpPr>
          <p:cNvPr id="49" name="Text 47"/>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3 · LITERATURE SURVEY</a:t>
            </a:r>
            <a:endParaRPr lang="en-US" sz="900" dirty="0"/>
          </a:p>
        </p:txBody>
      </p:sp>
      <p:sp>
        <p:nvSpPr>
          <p:cNvPr id="50" name="Text 48"/>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51" name="Text 49"/>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4 · RESEARCH GAP</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The Missing Middle Ground</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91640"/>
            <a:ext cx="3520440" cy="2377440"/>
          </a:xfrm>
          <a:prstGeom prst="roundRect">
            <a:avLst>
              <a:gd name="adj" fmla="val 3077"/>
            </a:avLst>
          </a:prstGeom>
          <a:solidFill>
            <a:srgbClr val="16163A"/>
          </a:solidFill>
          <a:ln/>
          <a:effectLst>
            <a:outerShdw sx="100000" sy="100000" kx="0" ky="0" algn="bl" rotWithShape="0" blurRad="101600" dist="38100" dir="5400000">
              <a:srgbClr val="000000">
                <a:alpha val="35000"/>
              </a:srgbClr>
            </a:outerShdw>
          </a:effectLst>
        </p:spPr>
      </p:sp>
      <p:sp>
        <p:nvSpPr>
          <p:cNvPr id="8" name="Text 6"/>
          <p:cNvSpPr txBox="1"/>
          <p:nvPr/>
        </p:nvSpPr>
        <p:spPr>
          <a:xfrm>
            <a:off x="685800" y="1920240"/>
            <a:ext cx="3063240" cy="685800"/>
          </a:xfrm>
          <a:prstGeom prst="rect">
            <a:avLst/>
          </a:prstGeom>
          <a:noFill/>
          <a:ln/>
        </p:spPr>
        <p:txBody>
          <a:bodyPr wrap="square" lIns="0" tIns="0" rIns="0" bIns="0" rtlCol="0" anchor="ctr"/>
          <a:lstStyle/>
          <a:p>
            <a:pPr indent="0" marL="0">
              <a:buNone/>
            </a:pPr>
            <a:r>
              <a:rPr lang="en-US" sz="1450" b="1" dirty="0">
                <a:solidFill>
                  <a:srgbClr val="FF3B5C"/>
                </a:solidFill>
                <a:latin typeface="Arial" pitchFamily="34" charset="0"/>
                <a:ea typeface="Arial" pitchFamily="34" charset="-122"/>
                <a:cs typeface="Arial" pitchFamily="34" charset="-120"/>
              </a:rPr>
              <a:t>Rule-Based Expert Systems</a:t>
            </a:r>
            <a:endParaRPr lang="en-US" sz="1450" dirty="0"/>
          </a:p>
        </p:txBody>
      </p:sp>
      <p:sp>
        <p:nvSpPr>
          <p:cNvPr id="9" name="Text 7"/>
          <p:cNvSpPr txBox="1"/>
          <p:nvPr/>
        </p:nvSpPr>
        <p:spPr>
          <a:xfrm>
            <a:off x="685800" y="2606040"/>
            <a:ext cx="3063240" cy="1234440"/>
          </a:xfrm>
          <a:prstGeom prst="rect">
            <a:avLst/>
          </a:prstGeom>
          <a:noFill/>
          <a:ln/>
        </p:spPr>
        <p:txBody>
          <a:bodyPr wrap="square" lIns="0" tIns="0" rIns="0" bIns="0" rtlCol="0" anchor="ctr"/>
          <a:lstStyle/>
          <a:p>
            <a:pPr indent="0" marL="0">
              <a:lnSpc>
                <a:spcPct val="120000"/>
              </a:lnSpc>
              <a:buNone/>
            </a:pPr>
            <a:r>
              <a:rPr lang="en-US" sz="1150" dirty="0">
                <a:solidFill>
                  <a:srgbClr val="ABA6D6"/>
                </a:solidFill>
                <a:latin typeface="Calibri" pitchFamily="34" charset="0"/>
                <a:ea typeface="Calibri" pitchFamily="34" charset="-122"/>
                <a:cs typeface="Calibri" pitchFamily="34" charset="-120"/>
              </a:rPr>
              <a:t>Explainable, hand-authored — but static and cannot replan for a specific player</a:t>
            </a:r>
            <a:endParaRPr lang="en-US" sz="1150" dirty="0"/>
          </a:p>
        </p:txBody>
      </p:sp>
      <p:sp>
        <p:nvSpPr>
          <p:cNvPr id="10" name="Shape 8"/>
          <p:cNvSpPr/>
          <p:nvPr/>
        </p:nvSpPr>
        <p:spPr>
          <a:xfrm>
            <a:off x="4206240" y="1691640"/>
            <a:ext cx="3520440" cy="2377440"/>
          </a:xfrm>
          <a:prstGeom prst="roundRect">
            <a:avLst>
              <a:gd name="adj" fmla="val 3077"/>
            </a:avLst>
          </a:prstGeom>
          <a:solidFill>
            <a:srgbClr val="16163A"/>
          </a:solidFill>
          <a:ln/>
          <a:effectLst>
            <a:outerShdw sx="100000" sy="100000" kx="0" ky="0" algn="bl" rotWithShape="0" blurRad="101600" dist="38100" dir="5400000">
              <a:srgbClr val="000000">
                <a:alpha val="35000"/>
              </a:srgbClr>
            </a:outerShdw>
          </a:effectLst>
        </p:spPr>
      </p:sp>
      <p:sp>
        <p:nvSpPr>
          <p:cNvPr id="11" name="Text 9"/>
          <p:cNvSpPr txBox="1"/>
          <p:nvPr/>
        </p:nvSpPr>
        <p:spPr>
          <a:xfrm>
            <a:off x="4434840" y="1920240"/>
            <a:ext cx="3063240" cy="685800"/>
          </a:xfrm>
          <a:prstGeom prst="rect">
            <a:avLst/>
          </a:prstGeom>
          <a:noFill/>
          <a:ln/>
        </p:spPr>
        <p:txBody>
          <a:bodyPr wrap="square" lIns="0" tIns="0" rIns="0" bIns="0" rtlCol="0" anchor="ctr"/>
          <a:lstStyle/>
          <a:p>
            <a:pPr indent="0" marL="0">
              <a:buNone/>
            </a:pPr>
            <a:r>
              <a:rPr lang="en-US" sz="1450" b="1" dirty="0">
                <a:solidFill>
                  <a:srgbClr val="FF3B5C"/>
                </a:solidFill>
                <a:latin typeface="Arial" pitchFamily="34" charset="0"/>
                <a:ea typeface="Arial" pitchFamily="34" charset="-122"/>
                <a:cs typeface="Arial" pitchFamily="34" charset="-120"/>
              </a:rPr>
              <a:t>Deep RL Policies</a:t>
            </a:r>
            <a:endParaRPr lang="en-US" sz="1450" dirty="0"/>
          </a:p>
        </p:txBody>
      </p:sp>
      <p:sp>
        <p:nvSpPr>
          <p:cNvPr id="12" name="Text 10"/>
          <p:cNvSpPr txBox="1"/>
          <p:nvPr/>
        </p:nvSpPr>
        <p:spPr>
          <a:xfrm>
            <a:off x="4434840" y="2606040"/>
            <a:ext cx="3063240" cy="1234440"/>
          </a:xfrm>
          <a:prstGeom prst="rect">
            <a:avLst/>
          </a:prstGeom>
          <a:noFill/>
          <a:ln/>
        </p:spPr>
        <p:txBody>
          <a:bodyPr wrap="square" lIns="0" tIns="0" rIns="0" bIns="0" rtlCol="0" anchor="ctr"/>
          <a:lstStyle/>
          <a:p>
            <a:pPr indent="0" marL="0">
              <a:lnSpc>
                <a:spcPct val="120000"/>
              </a:lnSpc>
              <a:buNone/>
            </a:pPr>
            <a:r>
              <a:rPr lang="en-US" sz="1150" dirty="0">
                <a:solidFill>
                  <a:srgbClr val="ABA6D6"/>
                </a:solidFill>
                <a:latin typeface="Calibri" pitchFamily="34" charset="0"/>
                <a:ea typeface="Calibri" pitchFamily="34" charset="-122"/>
                <a:cs typeface="Calibri" pitchFamily="34" charset="-120"/>
              </a:rPr>
              <a:t>Adaptive and strong — but a black box; designers cannot audit or edit reasoning</a:t>
            </a:r>
            <a:endParaRPr lang="en-US" sz="1150" dirty="0"/>
          </a:p>
        </p:txBody>
      </p:sp>
      <p:sp>
        <p:nvSpPr>
          <p:cNvPr id="13" name="Shape 11"/>
          <p:cNvSpPr/>
          <p:nvPr/>
        </p:nvSpPr>
        <p:spPr>
          <a:xfrm>
            <a:off x="7955280" y="1691640"/>
            <a:ext cx="3520440" cy="2377440"/>
          </a:xfrm>
          <a:prstGeom prst="roundRect">
            <a:avLst>
              <a:gd name="adj" fmla="val 3077"/>
            </a:avLst>
          </a:prstGeom>
          <a:solidFill>
            <a:srgbClr val="16163A"/>
          </a:solidFill>
          <a:ln/>
          <a:effectLst>
            <a:outerShdw sx="100000" sy="100000" kx="0" ky="0" algn="bl" rotWithShape="0" blurRad="101600" dist="38100" dir="5400000">
              <a:srgbClr val="000000">
                <a:alpha val="35000"/>
              </a:srgbClr>
            </a:outerShdw>
          </a:effectLst>
        </p:spPr>
      </p:sp>
      <p:sp>
        <p:nvSpPr>
          <p:cNvPr id="14" name="Text 12"/>
          <p:cNvSpPr txBox="1"/>
          <p:nvPr/>
        </p:nvSpPr>
        <p:spPr>
          <a:xfrm>
            <a:off x="8183880" y="1920240"/>
            <a:ext cx="3063240" cy="685800"/>
          </a:xfrm>
          <a:prstGeom prst="rect">
            <a:avLst/>
          </a:prstGeom>
          <a:noFill/>
          <a:ln/>
        </p:spPr>
        <p:txBody>
          <a:bodyPr wrap="square" lIns="0" tIns="0" rIns="0" bIns="0" rtlCol="0" anchor="ctr"/>
          <a:lstStyle/>
          <a:p>
            <a:pPr indent="0" marL="0">
              <a:buNone/>
            </a:pPr>
            <a:r>
              <a:rPr lang="en-US" sz="1450" b="1" dirty="0">
                <a:solidFill>
                  <a:srgbClr val="FF3B5C"/>
                </a:solidFill>
                <a:latin typeface="Arial" pitchFamily="34" charset="0"/>
                <a:ea typeface="Arial" pitchFamily="34" charset="-122"/>
                <a:cs typeface="Arial" pitchFamily="34" charset="-120"/>
              </a:rPr>
              <a:t>Scripted Behaviour Trees</a:t>
            </a:r>
            <a:endParaRPr lang="en-US" sz="1450" dirty="0"/>
          </a:p>
        </p:txBody>
      </p:sp>
      <p:sp>
        <p:nvSpPr>
          <p:cNvPr id="15" name="Text 13"/>
          <p:cNvSpPr txBox="1"/>
          <p:nvPr/>
        </p:nvSpPr>
        <p:spPr>
          <a:xfrm>
            <a:off x="8183880" y="2606040"/>
            <a:ext cx="3063240" cy="1234440"/>
          </a:xfrm>
          <a:prstGeom prst="rect">
            <a:avLst/>
          </a:prstGeom>
          <a:noFill/>
          <a:ln/>
        </p:spPr>
        <p:txBody>
          <a:bodyPr wrap="square" lIns="0" tIns="0" rIns="0" bIns="0" rtlCol="0" anchor="ctr"/>
          <a:lstStyle/>
          <a:p>
            <a:pPr indent="0" marL="0">
              <a:lnSpc>
                <a:spcPct val="120000"/>
              </a:lnSpc>
              <a:buNone/>
            </a:pPr>
            <a:r>
              <a:rPr lang="en-US" sz="1150" dirty="0">
                <a:solidFill>
                  <a:srgbClr val="ABA6D6"/>
                </a:solidFill>
                <a:latin typeface="Calibri" pitchFamily="34" charset="0"/>
                <a:ea typeface="Calibri" pitchFamily="34" charset="-122"/>
                <a:cs typeface="Calibri" pitchFamily="34" charset="-120"/>
              </a:rPr>
              <a:t>Predictable to build and debug — but repeats patterns players learn to exploit</a:t>
            </a:r>
            <a:endParaRPr lang="en-US" sz="1150" dirty="0"/>
          </a:p>
        </p:txBody>
      </p:sp>
      <p:sp>
        <p:nvSpPr>
          <p:cNvPr id="16" name="Shape 14"/>
          <p:cNvSpPr/>
          <p:nvPr/>
        </p:nvSpPr>
        <p:spPr>
          <a:xfrm>
            <a:off x="5632704" y="4160520"/>
            <a:ext cx="914400" cy="502920"/>
          </a:xfrm>
          <a:prstGeom prst="downArrow">
            <a:avLst/>
          </a:prstGeom>
          <a:solidFill>
            <a:srgbClr val="00E5FF"/>
          </a:solidFill>
          <a:ln/>
        </p:spPr>
      </p:sp>
      <p:sp>
        <p:nvSpPr>
          <p:cNvPr id="17" name="Shape 15"/>
          <p:cNvSpPr/>
          <p:nvPr/>
        </p:nvSpPr>
        <p:spPr>
          <a:xfrm>
            <a:off x="1371600" y="4800600"/>
            <a:ext cx="9445752" cy="1417320"/>
          </a:xfrm>
          <a:prstGeom prst="roundRect">
            <a:avLst>
              <a:gd name="adj" fmla="val 5161"/>
            </a:avLst>
          </a:prstGeom>
          <a:solidFill>
            <a:srgbClr val="1D1D48"/>
          </a:solidFill>
          <a:ln w="19050">
            <a:solidFill>
              <a:srgbClr val="00E5FF"/>
            </a:solidFill>
            <a:prstDash val="solid"/>
          </a:ln>
          <a:effectLst>
            <a:outerShdw sx="100000" sy="100000" kx="0" ky="0" algn="bl" rotWithShape="0" blurRad="101600" dist="38100" dir="5400000">
              <a:srgbClr val="000000">
                <a:alpha val="35000"/>
              </a:srgbClr>
            </a:outerShdw>
          </a:effectLst>
        </p:spPr>
      </p:sp>
      <p:sp>
        <p:nvSpPr>
          <p:cNvPr id="18" name="Text 16"/>
          <p:cNvSpPr txBox="1"/>
          <p:nvPr/>
        </p:nvSpPr>
        <p:spPr>
          <a:xfrm>
            <a:off x="1737360" y="4937760"/>
            <a:ext cx="8732520" cy="1143000"/>
          </a:xfrm>
          <a:prstGeom prst="rect">
            <a:avLst/>
          </a:prstGeom>
          <a:noFill/>
          <a:ln/>
        </p:spPr>
        <p:txBody>
          <a:bodyPr wrap="square" lIns="0" tIns="0" rIns="0" bIns="0" rtlCol="0" anchor="ctr"/>
          <a:lstStyle/>
          <a:p>
            <a:pPr algn="ctr" indent="0" marL="0">
              <a:buNone/>
            </a:pPr>
            <a:r>
              <a:rPr lang="en-US" sz="1500" b="1" dirty="0">
                <a:solidFill>
                  <a:srgbClr val="F3F1FF"/>
                </a:solidFill>
                <a:latin typeface="Arial" pitchFamily="34" charset="0"/>
                <a:ea typeface="Arial" pitchFamily="34" charset="-122"/>
                <a:cs typeface="Arial" pitchFamily="34" charset="-120"/>
              </a:rPr>
              <a:t>No existing framework unifies explainable symbolic reasoning with real-time, player-adaptive tactical planning under one coordinating “Game Master” role.</a:t>
            </a:r>
            <a:endParaRPr lang="en-US" sz="1500" dirty="0"/>
          </a:p>
        </p:txBody>
      </p:sp>
      <p:sp>
        <p:nvSpPr>
          <p:cNvPr id="19" name="Text 17"/>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4 · RESEARCH GAP</a:t>
            </a:r>
            <a:endParaRPr lang="en-US" sz="900" dirty="0"/>
          </a:p>
        </p:txBody>
      </p:sp>
      <p:sp>
        <p:nvSpPr>
          <p:cNvPr id="20" name="Text 18"/>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21" name="Text 19"/>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5 · RESEARCH OBJECTIVE</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What This Project Sets Out To Do</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91640"/>
            <a:ext cx="566928" cy="566928"/>
          </a:xfrm>
          <a:prstGeom prst="hexagon">
            <a:avLst/>
          </a:prstGeom>
          <a:solidFill>
            <a:srgbClr val="7B2FF7"/>
          </a:solidFill>
          <a:ln/>
        </p:spPr>
      </p:sp>
      <p:sp>
        <p:nvSpPr>
          <p:cNvPr id="8" name="Text 6"/>
          <p:cNvSpPr txBox="1"/>
          <p:nvPr/>
        </p:nvSpPr>
        <p:spPr>
          <a:xfrm>
            <a:off x="457200" y="1691640"/>
            <a:ext cx="566928" cy="566928"/>
          </a:xfrm>
          <a:prstGeom prst="rect">
            <a:avLst/>
          </a:prstGeom>
          <a:noFill/>
          <a:ln/>
        </p:spPr>
        <p:txBody>
          <a:bodyPr wrap="square" lIns="0" tIns="0" rIns="0" bIns="0" rtlCol="0" anchor="ctr"/>
          <a:lstStyle/>
          <a:p>
            <a:pPr algn="ctr" indent="0" marL="0">
              <a:buNone/>
            </a:pPr>
            <a:r>
              <a:rPr lang="en-US" sz="1612" b="1" dirty="0">
                <a:solidFill>
                  <a:srgbClr val="F3F1FF"/>
                </a:solidFill>
                <a:latin typeface="Arial" pitchFamily="34" charset="0"/>
                <a:ea typeface="Arial" pitchFamily="34" charset="-122"/>
                <a:cs typeface="Arial" pitchFamily="34" charset="-120"/>
              </a:rPr>
              <a:t>1</a:t>
            </a:r>
            <a:endParaRPr lang="en-US" sz="1612" dirty="0"/>
          </a:p>
        </p:txBody>
      </p:sp>
      <p:sp>
        <p:nvSpPr>
          <p:cNvPr id="9" name="Shape 7"/>
          <p:cNvSpPr/>
          <p:nvPr/>
        </p:nvSpPr>
        <p:spPr>
          <a:xfrm>
            <a:off x="1234440" y="1691640"/>
            <a:ext cx="10497312" cy="713232"/>
          </a:xfrm>
          <a:prstGeom prst="roundRect">
            <a:avLst>
              <a:gd name="adj" fmla="val 10256"/>
            </a:avLst>
          </a:prstGeom>
          <a:solidFill>
            <a:srgbClr val="16163A"/>
          </a:solidFill>
          <a:ln/>
        </p:spPr>
      </p:sp>
      <p:sp>
        <p:nvSpPr>
          <p:cNvPr id="10" name="Text 8"/>
          <p:cNvSpPr txBox="1"/>
          <p:nvPr/>
        </p:nvSpPr>
        <p:spPr>
          <a:xfrm>
            <a:off x="1481328" y="1691640"/>
            <a:ext cx="10012680" cy="713232"/>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Design a symbolic knowledge representation for combat state — units, stats, terrain and tactical relations.</a:t>
            </a:r>
            <a:endParaRPr lang="en-US" sz="1300" dirty="0"/>
          </a:p>
        </p:txBody>
      </p:sp>
      <p:sp>
        <p:nvSpPr>
          <p:cNvPr id="11" name="Shape 9"/>
          <p:cNvSpPr/>
          <p:nvPr/>
        </p:nvSpPr>
        <p:spPr>
          <a:xfrm>
            <a:off x="457200" y="2587752"/>
            <a:ext cx="566928" cy="566928"/>
          </a:xfrm>
          <a:prstGeom prst="hexagon">
            <a:avLst/>
          </a:prstGeom>
          <a:solidFill>
            <a:srgbClr val="00E5FF"/>
          </a:solidFill>
          <a:ln/>
        </p:spPr>
      </p:sp>
      <p:sp>
        <p:nvSpPr>
          <p:cNvPr id="12" name="Text 10"/>
          <p:cNvSpPr txBox="1"/>
          <p:nvPr/>
        </p:nvSpPr>
        <p:spPr>
          <a:xfrm>
            <a:off x="457200" y="2587752"/>
            <a:ext cx="566928" cy="566928"/>
          </a:xfrm>
          <a:prstGeom prst="rect">
            <a:avLst/>
          </a:prstGeom>
          <a:noFill/>
          <a:ln/>
        </p:spPr>
        <p:txBody>
          <a:bodyPr wrap="square" lIns="0" tIns="0" rIns="0" bIns="0" rtlCol="0" anchor="ctr"/>
          <a:lstStyle/>
          <a:p>
            <a:pPr algn="ctr" indent="0" marL="0">
              <a:buNone/>
            </a:pPr>
            <a:r>
              <a:rPr lang="en-US" sz="1612" b="1" dirty="0">
                <a:solidFill>
                  <a:srgbClr val="0B0B1E"/>
                </a:solidFill>
                <a:latin typeface="Arial" pitchFamily="34" charset="0"/>
                <a:ea typeface="Arial" pitchFamily="34" charset="-122"/>
                <a:cs typeface="Arial" pitchFamily="34" charset="-120"/>
              </a:rPr>
              <a:t>2</a:t>
            </a:r>
            <a:endParaRPr lang="en-US" sz="1612" dirty="0"/>
          </a:p>
        </p:txBody>
      </p:sp>
      <p:sp>
        <p:nvSpPr>
          <p:cNvPr id="13" name="Shape 11"/>
          <p:cNvSpPr/>
          <p:nvPr/>
        </p:nvSpPr>
        <p:spPr>
          <a:xfrm>
            <a:off x="1234440" y="2587752"/>
            <a:ext cx="10497312" cy="713232"/>
          </a:xfrm>
          <a:prstGeom prst="roundRect">
            <a:avLst>
              <a:gd name="adj" fmla="val 10256"/>
            </a:avLst>
          </a:prstGeom>
          <a:solidFill>
            <a:srgbClr val="1D1D48"/>
          </a:solidFill>
          <a:ln/>
        </p:spPr>
      </p:sp>
      <p:sp>
        <p:nvSpPr>
          <p:cNvPr id="14" name="Text 12"/>
          <p:cNvSpPr txBox="1"/>
          <p:nvPr/>
        </p:nvSpPr>
        <p:spPr>
          <a:xfrm>
            <a:off x="1481328" y="2587752"/>
            <a:ext cx="10012680" cy="713232"/>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Build a hybrid reasoning core: forward-chaining rules shortlist goals, a GOAP-style planner sequences actions.</a:t>
            </a:r>
            <a:endParaRPr lang="en-US" sz="1300" dirty="0"/>
          </a:p>
        </p:txBody>
      </p:sp>
      <p:sp>
        <p:nvSpPr>
          <p:cNvPr id="15" name="Shape 13"/>
          <p:cNvSpPr/>
          <p:nvPr/>
        </p:nvSpPr>
        <p:spPr>
          <a:xfrm>
            <a:off x="457200" y="3483864"/>
            <a:ext cx="566928" cy="566928"/>
          </a:xfrm>
          <a:prstGeom prst="hexagon">
            <a:avLst/>
          </a:prstGeom>
          <a:solidFill>
            <a:srgbClr val="7B2FF7"/>
          </a:solidFill>
          <a:ln/>
        </p:spPr>
      </p:sp>
      <p:sp>
        <p:nvSpPr>
          <p:cNvPr id="16" name="Text 14"/>
          <p:cNvSpPr txBox="1"/>
          <p:nvPr/>
        </p:nvSpPr>
        <p:spPr>
          <a:xfrm>
            <a:off x="457200" y="3483864"/>
            <a:ext cx="566928" cy="566928"/>
          </a:xfrm>
          <a:prstGeom prst="rect">
            <a:avLst/>
          </a:prstGeom>
          <a:noFill/>
          <a:ln/>
        </p:spPr>
        <p:txBody>
          <a:bodyPr wrap="square" lIns="0" tIns="0" rIns="0" bIns="0" rtlCol="0" anchor="ctr"/>
          <a:lstStyle/>
          <a:p>
            <a:pPr algn="ctr" indent="0" marL="0">
              <a:buNone/>
            </a:pPr>
            <a:r>
              <a:rPr lang="en-US" sz="1612" b="1" dirty="0">
                <a:solidFill>
                  <a:srgbClr val="F3F1FF"/>
                </a:solidFill>
                <a:latin typeface="Arial" pitchFamily="34" charset="0"/>
                <a:ea typeface="Arial" pitchFamily="34" charset="-122"/>
                <a:cs typeface="Arial" pitchFamily="34" charset="-120"/>
              </a:rPr>
              <a:t>3</a:t>
            </a:r>
            <a:endParaRPr lang="en-US" sz="1612" dirty="0"/>
          </a:p>
        </p:txBody>
      </p:sp>
      <p:sp>
        <p:nvSpPr>
          <p:cNvPr id="17" name="Shape 15"/>
          <p:cNvSpPr/>
          <p:nvPr/>
        </p:nvSpPr>
        <p:spPr>
          <a:xfrm>
            <a:off x="1234440" y="3483864"/>
            <a:ext cx="10497312" cy="713232"/>
          </a:xfrm>
          <a:prstGeom prst="roundRect">
            <a:avLst>
              <a:gd name="adj" fmla="val 10256"/>
            </a:avLst>
          </a:prstGeom>
          <a:solidFill>
            <a:srgbClr val="16163A"/>
          </a:solidFill>
          <a:ln/>
        </p:spPr>
      </p:sp>
      <p:sp>
        <p:nvSpPr>
          <p:cNvPr id="18" name="Text 16"/>
          <p:cNvSpPr txBox="1"/>
          <p:nvPr/>
        </p:nvSpPr>
        <p:spPr>
          <a:xfrm>
            <a:off x="1481328" y="3483864"/>
            <a:ext cx="10012680" cy="713232"/>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Introduce a dynamic-difficulty layer that retunes the Game Master's aggressiveness to player performance.</a:t>
            </a:r>
            <a:endParaRPr lang="en-US" sz="1300" dirty="0"/>
          </a:p>
        </p:txBody>
      </p:sp>
      <p:sp>
        <p:nvSpPr>
          <p:cNvPr id="19" name="Shape 17"/>
          <p:cNvSpPr/>
          <p:nvPr/>
        </p:nvSpPr>
        <p:spPr>
          <a:xfrm>
            <a:off x="457200" y="4379976"/>
            <a:ext cx="566928" cy="566928"/>
          </a:xfrm>
          <a:prstGeom prst="hexagon">
            <a:avLst/>
          </a:prstGeom>
          <a:solidFill>
            <a:srgbClr val="00E5FF"/>
          </a:solidFill>
          <a:ln/>
        </p:spPr>
      </p:sp>
      <p:sp>
        <p:nvSpPr>
          <p:cNvPr id="20" name="Text 18"/>
          <p:cNvSpPr txBox="1"/>
          <p:nvPr/>
        </p:nvSpPr>
        <p:spPr>
          <a:xfrm>
            <a:off x="457200" y="4379976"/>
            <a:ext cx="566928" cy="566928"/>
          </a:xfrm>
          <a:prstGeom prst="rect">
            <a:avLst/>
          </a:prstGeom>
          <a:noFill/>
          <a:ln/>
        </p:spPr>
        <p:txBody>
          <a:bodyPr wrap="square" lIns="0" tIns="0" rIns="0" bIns="0" rtlCol="0" anchor="ctr"/>
          <a:lstStyle/>
          <a:p>
            <a:pPr algn="ctr" indent="0" marL="0">
              <a:buNone/>
            </a:pPr>
            <a:r>
              <a:rPr lang="en-US" sz="1612" b="1" dirty="0">
                <a:solidFill>
                  <a:srgbClr val="0B0B1E"/>
                </a:solidFill>
                <a:latin typeface="Arial" pitchFamily="34" charset="0"/>
                <a:ea typeface="Arial" pitchFamily="34" charset="-122"/>
                <a:cs typeface="Arial" pitchFamily="34" charset="-120"/>
              </a:rPr>
              <a:t>4</a:t>
            </a:r>
            <a:endParaRPr lang="en-US" sz="1612" dirty="0"/>
          </a:p>
        </p:txBody>
      </p:sp>
      <p:sp>
        <p:nvSpPr>
          <p:cNvPr id="21" name="Shape 19"/>
          <p:cNvSpPr/>
          <p:nvPr/>
        </p:nvSpPr>
        <p:spPr>
          <a:xfrm>
            <a:off x="1234440" y="4379976"/>
            <a:ext cx="10497312" cy="713232"/>
          </a:xfrm>
          <a:prstGeom prst="roundRect">
            <a:avLst>
              <a:gd name="adj" fmla="val 10256"/>
            </a:avLst>
          </a:prstGeom>
          <a:solidFill>
            <a:srgbClr val="1D1D48"/>
          </a:solidFill>
          <a:ln/>
        </p:spPr>
      </p:sp>
      <p:sp>
        <p:nvSpPr>
          <p:cNvPr id="22" name="Text 20"/>
          <p:cNvSpPr txBox="1"/>
          <p:nvPr/>
        </p:nvSpPr>
        <p:spPr>
          <a:xfrm>
            <a:off x="1481328" y="4379976"/>
            <a:ext cx="10012680" cy="713232"/>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Guarantee explainability — every action the AI takes is traceable to the facts and rules that produced it.</a:t>
            </a:r>
            <a:endParaRPr lang="en-US" sz="1300" dirty="0"/>
          </a:p>
        </p:txBody>
      </p:sp>
      <p:sp>
        <p:nvSpPr>
          <p:cNvPr id="23" name="Shape 21"/>
          <p:cNvSpPr/>
          <p:nvPr/>
        </p:nvSpPr>
        <p:spPr>
          <a:xfrm>
            <a:off x="457200" y="5276088"/>
            <a:ext cx="566928" cy="566928"/>
          </a:xfrm>
          <a:prstGeom prst="hexagon">
            <a:avLst/>
          </a:prstGeom>
          <a:solidFill>
            <a:srgbClr val="7B2FF7"/>
          </a:solidFill>
          <a:ln/>
        </p:spPr>
      </p:sp>
      <p:sp>
        <p:nvSpPr>
          <p:cNvPr id="24" name="Text 22"/>
          <p:cNvSpPr txBox="1"/>
          <p:nvPr/>
        </p:nvSpPr>
        <p:spPr>
          <a:xfrm>
            <a:off x="457200" y="5276088"/>
            <a:ext cx="566928" cy="566928"/>
          </a:xfrm>
          <a:prstGeom prst="rect">
            <a:avLst/>
          </a:prstGeom>
          <a:noFill/>
          <a:ln/>
        </p:spPr>
        <p:txBody>
          <a:bodyPr wrap="square" lIns="0" tIns="0" rIns="0" bIns="0" rtlCol="0" anchor="ctr"/>
          <a:lstStyle/>
          <a:p>
            <a:pPr algn="ctr" indent="0" marL="0">
              <a:buNone/>
            </a:pPr>
            <a:r>
              <a:rPr lang="en-US" sz="1612" b="1" dirty="0">
                <a:solidFill>
                  <a:srgbClr val="F3F1FF"/>
                </a:solidFill>
                <a:latin typeface="Arial" pitchFamily="34" charset="0"/>
                <a:ea typeface="Arial" pitchFamily="34" charset="-122"/>
                <a:cs typeface="Arial" pitchFamily="34" charset="-120"/>
              </a:rPr>
              <a:t>5</a:t>
            </a:r>
            <a:endParaRPr lang="en-US" sz="1612" dirty="0"/>
          </a:p>
        </p:txBody>
      </p:sp>
      <p:sp>
        <p:nvSpPr>
          <p:cNvPr id="25" name="Shape 23"/>
          <p:cNvSpPr/>
          <p:nvPr/>
        </p:nvSpPr>
        <p:spPr>
          <a:xfrm>
            <a:off x="1234440" y="5276088"/>
            <a:ext cx="10497312" cy="713232"/>
          </a:xfrm>
          <a:prstGeom prst="roundRect">
            <a:avLst>
              <a:gd name="adj" fmla="val 10256"/>
            </a:avLst>
          </a:prstGeom>
          <a:solidFill>
            <a:srgbClr val="16163A"/>
          </a:solidFill>
          <a:ln/>
        </p:spPr>
      </p:sp>
      <p:sp>
        <p:nvSpPr>
          <p:cNvPr id="26" name="Text 24"/>
          <p:cNvSpPr txBox="1"/>
          <p:nvPr/>
        </p:nvSpPr>
        <p:spPr>
          <a:xfrm>
            <a:off x="1481328" y="5276088"/>
            <a:ext cx="10012680" cy="713232"/>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Benchmark CyberDungeon against a static scripted baseline on tactic variety, balance and latency.</a:t>
            </a:r>
            <a:endParaRPr lang="en-US" sz="1300" dirty="0"/>
          </a:p>
        </p:txBody>
      </p:sp>
      <p:sp>
        <p:nvSpPr>
          <p:cNvPr id="27" name="Text 25"/>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5 · RESEARCH OBJECTIVE</a:t>
            </a:r>
            <a:endParaRPr lang="en-US" sz="900" dirty="0"/>
          </a:p>
        </p:txBody>
      </p:sp>
      <p:sp>
        <p:nvSpPr>
          <p:cNvPr id="28" name="Text 26"/>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29" name="Text 27"/>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6 · PROPOSED WORK — ARCHITECTURE</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System Architecture</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920240"/>
            <a:ext cx="1828800" cy="187452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8" name="Shape 6"/>
          <p:cNvSpPr/>
          <p:nvPr/>
        </p:nvSpPr>
        <p:spPr>
          <a:xfrm>
            <a:off x="1124712" y="2084832"/>
            <a:ext cx="493776" cy="493776"/>
          </a:xfrm>
          <a:prstGeom prst="hexagon">
            <a:avLst/>
          </a:prstGeom>
          <a:solidFill>
            <a:srgbClr val="7B2FF7"/>
          </a:solidFill>
          <a:ln/>
        </p:spPr>
      </p:sp>
      <p:sp>
        <p:nvSpPr>
          <p:cNvPr id="9" name="Text 7"/>
          <p:cNvSpPr txBox="1"/>
          <p:nvPr/>
        </p:nvSpPr>
        <p:spPr>
          <a:xfrm>
            <a:off x="1124712" y="2084832"/>
            <a:ext cx="493776" cy="493776"/>
          </a:xfrm>
          <a:prstGeom prst="rect">
            <a:avLst/>
          </a:prstGeom>
          <a:noFill/>
          <a:ln/>
        </p:spPr>
        <p:txBody>
          <a:bodyPr wrap="square" lIns="0" tIns="0" rIns="0" bIns="0" rtlCol="0" anchor="ctr"/>
          <a:lstStyle/>
          <a:p>
            <a:pPr algn="ctr" indent="0" marL="0">
              <a:buNone/>
            </a:pPr>
            <a:r>
              <a:rPr lang="en-US" sz="1404" b="1" dirty="0">
                <a:solidFill>
                  <a:srgbClr val="F3F1FF"/>
                </a:solidFill>
                <a:latin typeface="Arial" pitchFamily="34" charset="0"/>
                <a:ea typeface="Arial" pitchFamily="34" charset="-122"/>
                <a:cs typeface="Arial" pitchFamily="34" charset="-120"/>
              </a:rPr>
              <a:t>1</a:t>
            </a:r>
            <a:endParaRPr lang="en-US" sz="1404" dirty="0"/>
          </a:p>
        </p:txBody>
      </p:sp>
      <p:sp>
        <p:nvSpPr>
          <p:cNvPr id="10" name="Text 8"/>
          <p:cNvSpPr txBox="1"/>
          <p:nvPr/>
        </p:nvSpPr>
        <p:spPr>
          <a:xfrm>
            <a:off x="566928" y="2697480"/>
            <a:ext cx="1609344" cy="365760"/>
          </a:xfrm>
          <a:prstGeom prst="rect">
            <a:avLst/>
          </a:prstGeom>
          <a:noFill/>
          <a:ln/>
        </p:spPr>
        <p:txBody>
          <a:bodyPr wrap="square" lIns="0" tIns="0" rIns="0" bIns="0" rtlCol="0" anchor="ctr"/>
          <a:lstStyle/>
          <a:p>
            <a:pPr algn="ctr" indent="0" marL="0">
              <a:buNone/>
            </a:pPr>
            <a:r>
              <a:rPr lang="en-US" sz="1250" b="1" dirty="0">
                <a:solidFill>
                  <a:srgbClr val="F3F1FF"/>
                </a:solidFill>
                <a:latin typeface="Arial" pitchFamily="34" charset="0"/>
                <a:ea typeface="Arial" pitchFamily="34" charset="-122"/>
                <a:cs typeface="Arial" pitchFamily="34" charset="-120"/>
              </a:rPr>
              <a:t>Perception</a:t>
            </a:r>
            <a:endParaRPr lang="en-US" sz="1250" dirty="0"/>
          </a:p>
        </p:txBody>
      </p:sp>
      <p:sp>
        <p:nvSpPr>
          <p:cNvPr id="11" name="Text 9"/>
          <p:cNvSpPr txBox="1"/>
          <p:nvPr/>
        </p:nvSpPr>
        <p:spPr>
          <a:xfrm>
            <a:off x="548640" y="3063240"/>
            <a:ext cx="1645920" cy="685800"/>
          </a:xfrm>
          <a:prstGeom prst="rect">
            <a:avLst/>
          </a:prstGeom>
          <a:noFill/>
          <a:ln/>
        </p:spPr>
        <p:txBody>
          <a:bodyPr wrap="square" lIns="0" tIns="0" rIns="0" bIns="0" rtlCol="0" anchor="ctr"/>
          <a:lstStyle/>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Extract game state:</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units, HP, terrain, cooldowns</a:t>
            </a:r>
            <a:endParaRPr lang="en-US" sz="950" dirty="0"/>
          </a:p>
        </p:txBody>
      </p:sp>
      <p:sp>
        <p:nvSpPr>
          <p:cNvPr id="12" name="Shape 10"/>
          <p:cNvSpPr/>
          <p:nvPr/>
        </p:nvSpPr>
        <p:spPr>
          <a:xfrm>
            <a:off x="2381875" y="2738628"/>
            <a:ext cx="340888" cy="237744"/>
          </a:xfrm>
          <a:prstGeom prst="rightArrow">
            <a:avLst/>
          </a:prstGeom>
          <a:solidFill>
            <a:srgbClr val="00E5FF"/>
          </a:solidFill>
          <a:ln/>
        </p:spPr>
      </p:sp>
      <p:sp>
        <p:nvSpPr>
          <p:cNvPr id="13" name="Shape 11"/>
          <p:cNvSpPr/>
          <p:nvPr/>
        </p:nvSpPr>
        <p:spPr>
          <a:xfrm>
            <a:off x="2818638" y="1920240"/>
            <a:ext cx="1828800" cy="187452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14" name="Shape 12"/>
          <p:cNvSpPr/>
          <p:nvPr/>
        </p:nvSpPr>
        <p:spPr>
          <a:xfrm>
            <a:off x="3486150" y="2084832"/>
            <a:ext cx="493776" cy="493776"/>
          </a:xfrm>
          <a:prstGeom prst="hexagon">
            <a:avLst/>
          </a:prstGeom>
          <a:solidFill>
            <a:srgbClr val="7B2FF7"/>
          </a:solidFill>
          <a:ln/>
        </p:spPr>
      </p:sp>
      <p:sp>
        <p:nvSpPr>
          <p:cNvPr id="15" name="Text 13"/>
          <p:cNvSpPr txBox="1"/>
          <p:nvPr/>
        </p:nvSpPr>
        <p:spPr>
          <a:xfrm>
            <a:off x="3486150" y="2084832"/>
            <a:ext cx="493776" cy="493776"/>
          </a:xfrm>
          <a:prstGeom prst="rect">
            <a:avLst/>
          </a:prstGeom>
          <a:noFill/>
          <a:ln/>
        </p:spPr>
        <p:txBody>
          <a:bodyPr wrap="square" lIns="0" tIns="0" rIns="0" bIns="0" rtlCol="0" anchor="ctr"/>
          <a:lstStyle/>
          <a:p>
            <a:pPr algn="ctr" indent="0" marL="0">
              <a:buNone/>
            </a:pPr>
            <a:r>
              <a:rPr lang="en-US" sz="1404" b="1" dirty="0">
                <a:solidFill>
                  <a:srgbClr val="F3F1FF"/>
                </a:solidFill>
                <a:latin typeface="Arial" pitchFamily="34" charset="0"/>
                <a:ea typeface="Arial" pitchFamily="34" charset="-122"/>
                <a:cs typeface="Arial" pitchFamily="34" charset="-120"/>
              </a:rPr>
              <a:t>2</a:t>
            </a:r>
            <a:endParaRPr lang="en-US" sz="1404" dirty="0"/>
          </a:p>
        </p:txBody>
      </p:sp>
      <p:sp>
        <p:nvSpPr>
          <p:cNvPr id="16" name="Text 14"/>
          <p:cNvSpPr txBox="1"/>
          <p:nvPr/>
        </p:nvSpPr>
        <p:spPr>
          <a:xfrm>
            <a:off x="2928366" y="2697480"/>
            <a:ext cx="1609344" cy="365760"/>
          </a:xfrm>
          <a:prstGeom prst="rect">
            <a:avLst/>
          </a:prstGeom>
          <a:noFill/>
          <a:ln/>
        </p:spPr>
        <p:txBody>
          <a:bodyPr wrap="square" lIns="0" tIns="0" rIns="0" bIns="0" rtlCol="0" anchor="ctr"/>
          <a:lstStyle/>
          <a:p>
            <a:pPr algn="ctr" indent="0" marL="0">
              <a:buNone/>
            </a:pPr>
            <a:r>
              <a:rPr lang="en-US" sz="1250" b="1" dirty="0">
                <a:solidFill>
                  <a:srgbClr val="F3F1FF"/>
                </a:solidFill>
                <a:latin typeface="Arial" pitchFamily="34" charset="0"/>
                <a:ea typeface="Arial" pitchFamily="34" charset="-122"/>
                <a:cs typeface="Arial" pitchFamily="34" charset="-120"/>
              </a:rPr>
              <a:t>Knowledge Base</a:t>
            </a:r>
            <a:endParaRPr lang="en-US" sz="1250" dirty="0"/>
          </a:p>
        </p:txBody>
      </p:sp>
      <p:sp>
        <p:nvSpPr>
          <p:cNvPr id="17" name="Text 15"/>
          <p:cNvSpPr txBox="1"/>
          <p:nvPr/>
        </p:nvSpPr>
        <p:spPr>
          <a:xfrm>
            <a:off x="2910078" y="3063240"/>
            <a:ext cx="1645920" cy="685800"/>
          </a:xfrm>
          <a:prstGeom prst="rect">
            <a:avLst/>
          </a:prstGeom>
          <a:noFill/>
          <a:ln/>
        </p:spPr>
        <p:txBody>
          <a:bodyPr wrap="square" lIns="0" tIns="0" rIns="0" bIns="0" rtlCol="0" anchor="ctr"/>
          <a:lstStyle/>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Symbolic facts &amp;</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rules (KB) updated</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every turn</a:t>
            </a:r>
            <a:endParaRPr lang="en-US" sz="950" dirty="0"/>
          </a:p>
        </p:txBody>
      </p:sp>
      <p:sp>
        <p:nvSpPr>
          <p:cNvPr id="18" name="Shape 16"/>
          <p:cNvSpPr/>
          <p:nvPr/>
        </p:nvSpPr>
        <p:spPr>
          <a:xfrm>
            <a:off x="4743313" y="2738628"/>
            <a:ext cx="340888" cy="237744"/>
          </a:xfrm>
          <a:prstGeom prst="rightArrow">
            <a:avLst/>
          </a:prstGeom>
          <a:solidFill>
            <a:srgbClr val="00E5FF"/>
          </a:solidFill>
          <a:ln/>
        </p:spPr>
      </p:sp>
      <p:sp>
        <p:nvSpPr>
          <p:cNvPr id="19" name="Shape 17"/>
          <p:cNvSpPr/>
          <p:nvPr/>
        </p:nvSpPr>
        <p:spPr>
          <a:xfrm>
            <a:off x="5180076" y="1920240"/>
            <a:ext cx="1828800" cy="187452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20" name="Shape 18"/>
          <p:cNvSpPr/>
          <p:nvPr/>
        </p:nvSpPr>
        <p:spPr>
          <a:xfrm>
            <a:off x="5847588" y="2084832"/>
            <a:ext cx="493776" cy="493776"/>
          </a:xfrm>
          <a:prstGeom prst="hexagon">
            <a:avLst/>
          </a:prstGeom>
          <a:solidFill>
            <a:srgbClr val="7B2FF7"/>
          </a:solidFill>
          <a:ln/>
        </p:spPr>
      </p:sp>
      <p:sp>
        <p:nvSpPr>
          <p:cNvPr id="21" name="Text 19"/>
          <p:cNvSpPr txBox="1"/>
          <p:nvPr/>
        </p:nvSpPr>
        <p:spPr>
          <a:xfrm>
            <a:off x="5847588" y="2084832"/>
            <a:ext cx="493776" cy="493776"/>
          </a:xfrm>
          <a:prstGeom prst="rect">
            <a:avLst/>
          </a:prstGeom>
          <a:noFill/>
          <a:ln/>
        </p:spPr>
        <p:txBody>
          <a:bodyPr wrap="square" lIns="0" tIns="0" rIns="0" bIns="0" rtlCol="0" anchor="ctr"/>
          <a:lstStyle/>
          <a:p>
            <a:pPr algn="ctr" indent="0" marL="0">
              <a:buNone/>
            </a:pPr>
            <a:r>
              <a:rPr lang="en-US" sz="1404" b="1" dirty="0">
                <a:solidFill>
                  <a:srgbClr val="F3F1FF"/>
                </a:solidFill>
                <a:latin typeface="Arial" pitchFamily="34" charset="0"/>
                <a:ea typeface="Arial" pitchFamily="34" charset="-122"/>
                <a:cs typeface="Arial" pitchFamily="34" charset="-120"/>
              </a:rPr>
              <a:t>3</a:t>
            </a:r>
            <a:endParaRPr lang="en-US" sz="1404" dirty="0"/>
          </a:p>
        </p:txBody>
      </p:sp>
      <p:sp>
        <p:nvSpPr>
          <p:cNvPr id="22" name="Text 20"/>
          <p:cNvSpPr txBox="1"/>
          <p:nvPr/>
        </p:nvSpPr>
        <p:spPr>
          <a:xfrm>
            <a:off x="5289804" y="2697480"/>
            <a:ext cx="1609344" cy="365760"/>
          </a:xfrm>
          <a:prstGeom prst="rect">
            <a:avLst/>
          </a:prstGeom>
          <a:noFill/>
          <a:ln/>
        </p:spPr>
        <p:txBody>
          <a:bodyPr wrap="square" lIns="0" tIns="0" rIns="0" bIns="0" rtlCol="0" anchor="ctr"/>
          <a:lstStyle/>
          <a:p>
            <a:pPr algn="ctr" indent="0" marL="0">
              <a:buNone/>
            </a:pPr>
            <a:r>
              <a:rPr lang="en-US" sz="1250" b="1" dirty="0">
                <a:solidFill>
                  <a:srgbClr val="F3F1FF"/>
                </a:solidFill>
                <a:latin typeface="Arial" pitchFamily="34" charset="0"/>
                <a:ea typeface="Arial" pitchFamily="34" charset="-122"/>
                <a:cs typeface="Arial" pitchFamily="34" charset="-120"/>
              </a:rPr>
              <a:t>Reasoning Core</a:t>
            </a:r>
            <a:endParaRPr lang="en-US" sz="1250" dirty="0"/>
          </a:p>
        </p:txBody>
      </p:sp>
      <p:sp>
        <p:nvSpPr>
          <p:cNvPr id="23" name="Text 21"/>
          <p:cNvSpPr txBox="1"/>
          <p:nvPr/>
        </p:nvSpPr>
        <p:spPr>
          <a:xfrm>
            <a:off x="5271516" y="3063240"/>
            <a:ext cx="1645920" cy="685800"/>
          </a:xfrm>
          <a:prstGeom prst="rect">
            <a:avLst/>
          </a:prstGeom>
          <a:noFill/>
          <a:ln/>
        </p:spPr>
        <p:txBody>
          <a:bodyPr wrap="square" lIns="0" tIns="0" rIns="0" bIns="0" rtlCol="0" anchor="ctr"/>
          <a:lstStyle/>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Forward-chaining +</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GOAP planner build</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candidate plans</a:t>
            </a:r>
            <a:endParaRPr lang="en-US" sz="950" dirty="0"/>
          </a:p>
        </p:txBody>
      </p:sp>
      <p:sp>
        <p:nvSpPr>
          <p:cNvPr id="24" name="Shape 22"/>
          <p:cNvSpPr/>
          <p:nvPr/>
        </p:nvSpPr>
        <p:spPr>
          <a:xfrm>
            <a:off x="7104751" y="2738628"/>
            <a:ext cx="340888" cy="237744"/>
          </a:xfrm>
          <a:prstGeom prst="rightArrow">
            <a:avLst/>
          </a:prstGeom>
          <a:solidFill>
            <a:srgbClr val="00E5FF"/>
          </a:solidFill>
          <a:ln/>
        </p:spPr>
      </p:sp>
      <p:sp>
        <p:nvSpPr>
          <p:cNvPr id="25" name="Shape 23"/>
          <p:cNvSpPr/>
          <p:nvPr/>
        </p:nvSpPr>
        <p:spPr>
          <a:xfrm>
            <a:off x="7541514" y="1920240"/>
            <a:ext cx="1828800" cy="1874520"/>
          </a:xfrm>
          <a:prstGeom prst="roundRect">
            <a:avLst>
              <a:gd name="adj" fmla="val 4000"/>
            </a:avLst>
          </a:prstGeom>
          <a:solidFill>
            <a:srgbClr val="1D1D48"/>
          </a:solidFill>
          <a:ln w="19050">
            <a:solidFill>
              <a:srgbClr val="00E5FF"/>
            </a:solidFill>
            <a:prstDash val="solid"/>
          </a:ln>
          <a:effectLst>
            <a:outerShdw sx="100000" sy="100000" kx="0" ky="0" algn="bl" rotWithShape="0" blurRad="101600" dist="38100" dir="5400000">
              <a:srgbClr val="000000">
                <a:alpha val="35000"/>
              </a:srgbClr>
            </a:outerShdw>
          </a:effectLst>
        </p:spPr>
      </p:sp>
      <p:sp>
        <p:nvSpPr>
          <p:cNvPr id="26" name="Shape 24"/>
          <p:cNvSpPr/>
          <p:nvPr/>
        </p:nvSpPr>
        <p:spPr>
          <a:xfrm>
            <a:off x="8209026" y="2084832"/>
            <a:ext cx="493776" cy="493776"/>
          </a:xfrm>
          <a:prstGeom prst="hexagon">
            <a:avLst/>
          </a:prstGeom>
          <a:solidFill>
            <a:srgbClr val="00E5FF"/>
          </a:solidFill>
          <a:ln/>
        </p:spPr>
      </p:sp>
      <p:sp>
        <p:nvSpPr>
          <p:cNvPr id="27" name="Text 25"/>
          <p:cNvSpPr txBox="1"/>
          <p:nvPr/>
        </p:nvSpPr>
        <p:spPr>
          <a:xfrm>
            <a:off x="8209026" y="2084832"/>
            <a:ext cx="493776" cy="493776"/>
          </a:xfrm>
          <a:prstGeom prst="rect">
            <a:avLst/>
          </a:prstGeom>
          <a:noFill/>
          <a:ln/>
        </p:spPr>
        <p:txBody>
          <a:bodyPr wrap="square" lIns="0" tIns="0" rIns="0" bIns="0" rtlCol="0" anchor="ctr"/>
          <a:lstStyle/>
          <a:p>
            <a:pPr algn="ctr" indent="0" marL="0">
              <a:buNone/>
            </a:pPr>
            <a:r>
              <a:rPr lang="en-US" sz="1404" b="1" dirty="0">
                <a:solidFill>
                  <a:srgbClr val="0B0B1E"/>
                </a:solidFill>
                <a:latin typeface="Arial" pitchFamily="34" charset="0"/>
                <a:ea typeface="Arial" pitchFamily="34" charset="-122"/>
                <a:cs typeface="Arial" pitchFamily="34" charset="-120"/>
              </a:rPr>
              <a:t>4</a:t>
            </a:r>
            <a:endParaRPr lang="en-US" sz="1404" dirty="0"/>
          </a:p>
        </p:txBody>
      </p:sp>
      <p:sp>
        <p:nvSpPr>
          <p:cNvPr id="28" name="Text 26"/>
          <p:cNvSpPr txBox="1"/>
          <p:nvPr/>
        </p:nvSpPr>
        <p:spPr>
          <a:xfrm>
            <a:off x="7651242" y="2697480"/>
            <a:ext cx="1609344" cy="365760"/>
          </a:xfrm>
          <a:prstGeom prst="rect">
            <a:avLst/>
          </a:prstGeom>
          <a:noFill/>
          <a:ln/>
        </p:spPr>
        <p:txBody>
          <a:bodyPr wrap="square" lIns="0" tIns="0" rIns="0" bIns="0" rtlCol="0" anchor="ctr"/>
          <a:lstStyle/>
          <a:p>
            <a:pPr algn="ctr" indent="0" marL="0">
              <a:buNone/>
            </a:pPr>
            <a:r>
              <a:rPr lang="en-US" sz="1250" b="1" dirty="0">
                <a:solidFill>
                  <a:srgbClr val="F3F1FF"/>
                </a:solidFill>
                <a:latin typeface="Arial" pitchFamily="34" charset="0"/>
                <a:ea typeface="Arial" pitchFamily="34" charset="-122"/>
                <a:cs typeface="Arial" pitchFamily="34" charset="-120"/>
              </a:rPr>
              <a:t>Game Master Layer</a:t>
            </a:r>
            <a:endParaRPr lang="en-US" sz="1250" dirty="0"/>
          </a:p>
        </p:txBody>
      </p:sp>
      <p:sp>
        <p:nvSpPr>
          <p:cNvPr id="29" name="Text 27"/>
          <p:cNvSpPr txBox="1"/>
          <p:nvPr/>
        </p:nvSpPr>
        <p:spPr>
          <a:xfrm>
            <a:off x="7632954" y="3063240"/>
            <a:ext cx="1645920" cy="685800"/>
          </a:xfrm>
          <a:prstGeom prst="rect">
            <a:avLst/>
          </a:prstGeom>
          <a:noFill/>
          <a:ln/>
        </p:spPr>
        <p:txBody>
          <a:bodyPr wrap="square" lIns="0" tIns="0" rIns="0" bIns="0" rtlCol="0" anchor="ctr"/>
          <a:lstStyle/>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Scores plans against</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difficulty target,</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picks best tactic</a:t>
            </a:r>
            <a:endParaRPr lang="en-US" sz="950" dirty="0"/>
          </a:p>
        </p:txBody>
      </p:sp>
      <p:sp>
        <p:nvSpPr>
          <p:cNvPr id="30" name="Shape 28"/>
          <p:cNvSpPr/>
          <p:nvPr/>
        </p:nvSpPr>
        <p:spPr>
          <a:xfrm>
            <a:off x="9466189" y="2738628"/>
            <a:ext cx="340888" cy="237744"/>
          </a:xfrm>
          <a:prstGeom prst="rightArrow">
            <a:avLst/>
          </a:prstGeom>
          <a:solidFill>
            <a:srgbClr val="00E5FF"/>
          </a:solidFill>
          <a:ln/>
        </p:spPr>
      </p:sp>
      <p:sp>
        <p:nvSpPr>
          <p:cNvPr id="31" name="Shape 29"/>
          <p:cNvSpPr/>
          <p:nvPr/>
        </p:nvSpPr>
        <p:spPr>
          <a:xfrm>
            <a:off x="9902952" y="1920240"/>
            <a:ext cx="1828800" cy="187452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32" name="Shape 30"/>
          <p:cNvSpPr/>
          <p:nvPr/>
        </p:nvSpPr>
        <p:spPr>
          <a:xfrm>
            <a:off x="10570464" y="2084832"/>
            <a:ext cx="493776" cy="493776"/>
          </a:xfrm>
          <a:prstGeom prst="hexagon">
            <a:avLst/>
          </a:prstGeom>
          <a:solidFill>
            <a:srgbClr val="7B2FF7"/>
          </a:solidFill>
          <a:ln/>
        </p:spPr>
      </p:sp>
      <p:sp>
        <p:nvSpPr>
          <p:cNvPr id="33" name="Text 31"/>
          <p:cNvSpPr txBox="1"/>
          <p:nvPr/>
        </p:nvSpPr>
        <p:spPr>
          <a:xfrm>
            <a:off x="10570464" y="2084832"/>
            <a:ext cx="493776" cy="493776"/>
          </a:xfrm>
          <a:prstGeom prst="rect">
            <a:avLst/>
          </a:prstGeom>
          <a:noFill/>
          <a:ln/>
        </p:spPr>
        <p:txBody>
          <a:bodyPr wrap="square" lIns="0" tIns="0" rIns="0" bIns="0" rtlCol="0" anchor="ctr"/>
          <a:lstStyle/>
          <a:p>
            <a:pPr algn="ctr" indent="0" marL="0">
              <a:buNone/>
            </a:pPr>
            <a:r>
              <a:rPr lang="en-US" sz="1404" b="1" dirty="0">
                <a:solidFill>
                  <a:srgbClr val="F3F1FF"/>
                </a:solidFill>
                <a:latin typeface="Arial" pitchFamily="34" charset="0"/>
                <a:ea typeface="Arial" pitchFamily="34" charset="-122"/>
                <a:cs typeface="Arial" pitchFamily="34" charset="-120"/>
              </a:rPr>
              <a:t>5</a:t>
            </a:r>
            <a:endParaRPr lang="en-US" sz="1404" dirty="0"/>
          </a:p>
        </p:txBody>
      </p:sp>
      <p:sp>
        <p:nvSpPr>
          <p:cNvPr id="34" name="Text 32"/>
          <p:cNvSpPr txBox="1"/>
          <p:nvPr/>
        </p:nvSpPr>
        <p:spPr>
          <a:xfrm>
            <a:off x="10012680" y="2697480"/>
            <a:ext cx="1609344" cy="365760"/>
          </a:xfrm>
          <a:prstGeom prst="rect">
            <a:avLst/>
          </a:prstGeom>
          <a:noFill/>
          <a:ln/>
        </p:spPr>
        <p:txBody>
          <a:bodyPr wrap="square" lIns="0" tIns="0" rIns="0" bIns="0" rtlCol="0" anchor="ctr"/>
          <a:lstStyle/>
          <a:p>
            <a:pPr algn="ctr" indent="0" marL="0">
              <a:buNone/>
            </a:pPr>
            <a:r>
              <a:rPr lang="en-US" sz="1250" b="1" dirty="0">
                <a:solidFill>
                  <a:srgbClr val="F3F1FF"/>
                </a:solidFill>
                <a:latin typeface="Arial" pitchFamily="34" charset="0"/>
                <a:ea typeface="Arial" pitchFamily="34" charset="-122"/>
                <a:cs typeface="Arial" pitchFamily="34" charset="-120"/>
              </a:rPr>
              <a:t>Execution</a:t>
            </a:r>
            <a:endParaRPr lang="en-US" sz="1250" dirty="0"/>
          </a:p>
        </p:txBody>
      </p:sp>
      <p:sp>
        <p:nvSpPr>
          <p:cNvPr id="35" name="Text 33"/>
          <p:cNvSpPr txBox="1"/>
          <p:nvPr/>
        </p:nvSpPr>
        <p:spPr>
          <a:xfrm>
            <a:off x="9994392" y="3063240"/>
            <a:ext cx="1645920" cy="685800"/>
          </a:xfrm>
          <a:prstGeom prst="rect">
            <a:avLst/>
          </a:prstGeom>
          <a:noFill/>
          <a:ln/>
        </p:spPr>
        <p:txBody>
          <a:bodyPr wrap="square" lIns="0" tIns="0" rIns="0" bIns="0" rtlCol="0" anchor="ctr"/>
          <a:lstStyle/>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Combat engine</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plays out the chosen</a:t>
            </a:r>
            <a:endParaRPr lang="en-US" sz="950" dirty="0"/>
          </a:p>
          <a:p>
            <a:pPr algn="ctr" indent="0" marL="0">
              <a:lnSpc>
                <a:spcPct val="105000"/>
              </a:lnSpc>
              <a:buNone/>
            </a:pPr>
            <a:r>
              <a:rPr lang="en-US" sz="950" dirty="0">
                <a:solidFill>
                  <a:srgbClr val="ABA6D6"/>
                </a:solidFill>
                <a:latin typeface="Calibri" pitchFamily="34" charset="0"/>
                <a:ea typeface="Calibri" pitchFamily="34" charset="-122"/>
                <a:cs typeface="Calibri" pitchFamily="34" charset="-120"/>
              </a:rPr>
              <a:t>action sequence</a:t>
            </a:r>
            <a:endParaRPr lang="en-US" sz="950" dirty="0"/>
          </a:p>
        </p:txBody>
      </p:sp>
      <p:sp>
        <p:nvSpPr>
          <p:cNvPr id="36" name="Shape 34"/>
          <p:cNvSpPr/>
          <p:nvPr/>
        </p:nvSpPr>
        <p:spPr>
          <a:xfrm>
            <a:off x="1371600" y="4114800"/>
            <a:ext cx="9445752" cy="0"/>
          </a:xfrm>
          <a:prstGeom prst="line">
            <a:avLst/>
          </a:prstGeom>
          <a:noFill/>
          <a:ln w="22225">
            <a:solidFill>
              <a:srgbClr val="FF3B5C"/>
            </a:solidFill>
            <a:prstDash val="dash"/>
          </a:ln>
        </p:spPr>
      </p:sp>
      <p:sp>
        <p:nvSpPr>
          <p:cNvPr id="37" name="Shape 35"/>
          <p:cNvSpPr/>
          <p:nvPr/>
        </p:nvSpPr>
        <p:spPr>
          <a:xfrm>
            <a:off x="1078992" y="4014216"/>
            <a:ext cx="292608" cy="201168"/>
          </a:xfrm>
          <a:prstGeom prst="leftArrow">
            <a:avLst/>
          </a:prstGeom>
          <a:solidFill>
            <a:srgbClr val="FF3B5C"/>
          </a:solidFill>
          <a:ln/>
        </p:spPr>
      </p:sp>
      <p:sp>
        <p:nvSpPr>
          <p:cNvPr id="38" name="Text 36"/>
          <p:cNvSpPr txBox="1"/>
          <p:nvPr/>
        </p:nvSpPr>
        <p:spPr>
          <a:xfrm>
            <a:off x="457200" y="4544568"/>
            <a:ext cx="11274552" cy="320040"/>
          </a:xfrm>
          <a:prstGeom prst="rect">
            <a:avLst/>
          </a:prstGeom>
          <a:noFill/>
          <a:ln/>
        </p:spPr>
        <p:txBody>
          <a:bodyPr wrap="square" lIns="0" tIns="0" rIns="0" bIns="0" rtlCol="0" anchor="ctr"/>
          <a:lstStyle/>
          <a:p>
            <a:pPr algn="ctr" indent="0" marL="0">
              <a:buNone/>
            </a:pPr>
            <a:r>
              <a:rPr lang="en-US" sz="1050" i="1" dirty="0">
                <a:solidFill>
                  <a:srgbClr val="FF3B5C"/>
                </a:solidFill>
                <a:latin typeface="Calibri" pitchFamily="34" charset="0"/>
                <a:ea typeface="Calibri" pitchFamily="34" charset="-122"/>
                <a:cs typeface="Calibri" pitchFamily="34" charset="-120"/>
              </a:rPr>
              <a:t>player-performance feedback loop → retunes difficulty each turn</a:t>
            </a:r>
            <a:endParaRPr lang="en-US" sz="1050" dirty="0"/>
          </a:p>
        </p:txBody>
      </p:sp>
      <p:sp>
        <p:nvSpPr>
          <p:cNvPr id="39" name="Shape 37"/>
          <p:cNvSpPr/>
          <p:nvPr/>
        </p:nvSpPr>
        <p:spPr>
          <a:xfrm>
            <a:off x="457200" y="5029200"/>
            <a:ext cx="11274552" cy="1051560"/>
          </a:xfrm>
          <a:prstGeom prst="roundRect">
            <a:avLst>
              <a:gd name="adj" fmla="val 6957"/>
            </a:avLst>
          </a:prstGeom>
          <a:solidFill>
            <a:srgbClr val="1D1D48"/>
          </a:solidFill>
          <a:ln/>
        </p:spPr>
      </p:sp>
      <p:sp>
        <p:nvSpPr>
          <p:cNvPr id="40" name="Text 38"/>
          <p:cNvSpPr txBox="1"/>
          <p:nvPr/>
        </p:nvSpPr>
        <p:spPr>
          <a:xfrm>
            <a:off x="777240" y="5029200"/>
            <a:ext cx="10607040" cy="1051560"/>
          </a:xfrm>
          <a:prstGeom prst="rect">
            <a:avLst/>
          </a:prstGeom>
          <a:noFill/>
          <a:ln/>
        </p:spPr>
        <p:txBody>
          <a:bodyPr wrap="square" lIns="0" tIns="0" rIns="0" bIns="0" rtlCol="0" anchor="ctr"/>
          <a:lstStyle/>
          <a:p>
            <a:pPr indent="0" marL="0">
              <a:buNone/>
            </a:pPr>
            <a:r>
              <a:rPr lang="en-US" sz="1250" i="1" dirty="0">
                <a:solidFill>
                  <a:srgbClr val="ABA6D6"/>
                </a:solidFill>
                <a:latin typeface="Calibri" pitchFamily="34" charset="0"/>
                <a:ea typeface="Calibri" pitchFamily="34" charset="-122"/>
                <a:cs typeface="Calibri" pitchFamily="34" charset="-120"/>
              </a:rPr>
              <a:t>An Explanation Log runs alongside every layer, recording which facts and rules fired so each Game-Master decision can be replayed and audited.</a:t>
            </a:r>
            <a:endParaRPr lang="en-US" sz="1250" dirty="0"/>
          </a:p>
        </p:txBody>
      </p:sp>
      <p:sp>
        <p:nvSpPr>
          <p:cNvPr id="41" name="Text 39"/>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6 · PROPOSED WORK · ARCHITECTURE</a:t>
            </a:r>
            <a:endParaRPr lang="en-US" sz="900" dirty="0"/>
          </a:p>
        </p:txBody>
      </p:sp>
      <p:sp>
        <p:nvSpPr>
          <p:cNvPr id="42" name="Text 40"/>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43" name="Text 41"/>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6 · PROPOSED WORK — ALGORITHM</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Game Master Decision Loop</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45920"/>
            <a:ext cx="3587496" cy="182880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8" name="Shape 6"/>
          <p:cNvSpPr/>
          <p:nvPr/>
        </p:nvSpPr>
        <p:spPr>
          <a:xfrm>
            <a:off x="685800" y="1874520"/>
            <a:ext cx="475488" cy="475488"/>
          </a:xfrm>
          <a:prstGeom prst="hexagon">
            <a:avLst/>
          </a:prstGeom>
          <a:solidFill>
            <a:srgbClr val="00E5FF"/>
          </a:solidFill>
          <a:ln/>
        </p:spPr>
      </p:sp>
      <p:sp>
        <p:nvSpPr>
          <p:cNvPr id="9" name="Text 7"/>
          <p:cNvSpPr txBox="1"/>
          <p:nvPr/>
        </p:nvSpPr>
        <p:spPr>
          <a:xfrm>
            <a:off x="685800" y="1874520"/>
            <a:ext cx="475488" cy="475488"/>
          </a:xfrm>
          <a:prstGeom prst="rect">
            <a:avLst/>
          </a:prstGeom>
          <a:noFill/>
          <a:ln/>
        </p:spPr>
        <p:txBody>
          <a:bodyPr wrap="square" lIns="0" tIns="0" rIns="0" bIns="0" rtlCol="0" anchor="ctr"/>
          <a:lstStyle/>
          <a:p>
            <a:pPr algn="ctr" indent="0" marL="0">
              <a:buNone/>
            </a:pPr>
            <a:r>
              <a:rPr lang="en-US" sz="1352" b="1" dirty="0">
                <a:solidFill>
                  <a:srgbClr val="0B0B1E"/>
                </a:solidFill>
                <a:latin typeface="Arial" pitchFamily="34" charset="0"/>
                <a:ea typeface="Arial" pitchFamily="34" charset="-122"/>
                <a:cs typeface="Arial" pitchFamily="34" charset="-120"/>
              </a:rPr>
              <a:t>1</a:t>
            </a:r>
            <a:endParaRPr lang="en-US" sz="1352" dirty="0"/>
          </a:p>
        </p:txBody>
      </p:sp>
      <p:sp>
        <p:nvSpPr>
          <p:cNvPr id="10" name="Text 8"/>
          <p:cNvSpPr txBox="1"/>
          <p:nvPr/>
        </p:nvSpPr>
        <p:spPr>
          <a:xfrm>
            <a:off x="685800" y="2487168"/>
            <a:ext cx="3130296" cy="365760"/>
          </a:xfrm>
          <a:prstGeom prst="rect">
            <a:avLst/>
          </a:prstGeom>
          <a:noFill/>
          <a:ln/>
        </p:spPr>
        <p:txBody>
          <a:bodyPr wrap="square" lIns="0" tIns="0" rIns="0" bIns="0" rtlCol="0" anchor="ctr"/>
          <a:lstStyle/>
          <a:p>
            <a:pPr indent="0" marL="0">
              <a:buNone/>
            </a:pPr>
            <a:r>
              <a:rPr lang="en-US" sz="1450" b="1" dirty="0">
                <a:solidFill>
                  <a:srgbClr val="F3F1FF"/>
                </a:solidFill>
                <a:latin typeface="Arial" pitchFamily="34" charset="0"/>
                <a:ea typeface="Arial" pitchFamily="34" charset="-122"/>
                <a:cs typeface="Arial" pitchFamily="34" charset="-120"/>
              </a:rPr>
              <a:t>Sense</a:t>
            </a:r>
            <a:endParaRPr lang="en-US" sz="1450" dirty="0"/>
          </a:p>
        </p:txBody>
      </p:sp>
      <p:sp>
        <p:nvSpPr>
          <p:cNvPr id="11" name="Text 9"/>
          <p:cNvSpPr txBox="1"/>
          <p:nvPr/>
        </p:nvSpPr>
        <p:spPr>
          <a:xfrm>
            <a:off x="685800" y="2852928"/>
            <a:ext cx="3130296" cy="45720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Read current combat state into working memory (units, positions, HP, terrain).</a:t>
            </a:r>
            <a:endParaRPr lang="en-US" sz="1050" dirty="0"/>
          </a:p>
        </p:txBody>
      </p:sp>
      <p:sp>
        <p:nvSpPr>
          <p:cNvPr id="12" name="Shape 10"/>
          <p:cNvSpPr/>
          <p:nvPr/>
        </p:nvSpPr>
        <p:spPr>
          <a:xfrm>
            <a:off x="4300728" y="1645920"/>
            <a:ext cx="3587496" cy="182880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13" name="Shape 11"/>
          <p:cNvSpPr/>
          <p:nvPr/>
        </p:nvSpPr>
        <p:spPr>
          <a:xfrm>
            <a:off x="4529328" y="1874520"/>
            <a:ext cx="475488" cy="475488"/>
          </a:xfrm>
          <a:prstGeom prst="hexagon">
            <a:avLst/>
          </a:prstGeom>
          <a:solidFill>
            <a:srgbClr val="00E5FF"/>
          </a:solidFill>
          <a:ln/>
        </p:spPr>
      </p:sp>
      <p:sp>
        <p:nvSpPr>
          <p:cNvPr id="14" name="Text 12"/>
          <p:cNvSpPr txBox="1"/>
          <p:nvPr/>
        </p:nvSpPr>
        <p:spPr>
          <a:xfrm>
            <a:off x="4529328" y="1874520"/>
            <a:ext cx="475488" cy="475488"/>
          </a:xfrm>
          <a:prstGeom prst="rect">
            <a:avLst/>
          </a:prstGeom>
          <a:noFill/>
          <a:ln/>
        </p:spPr>
        <p:txBody>
          <a:bodyPr wrap="square" lIns="0" tIns="0" rIns="0" bIns="0" rtlCol="0" anchor="ctr"/>
          <a:lstStyle/>
          <a:p>
            <a:pPr algn="ctr" indent="0" marL="0">
              <a:buNone/>
            </a:pPr>
            <a:r>
              <a:rPr lang="en-US" sz="1352" b="1" dirty="0">
                <a:solidFill>
                  <a:srgbClr val="0B0B1E"/>
                </a:solidFill>
                <a:latin typeface="Arial" pitchFamily="34" charset="0"/>
                <a:ea typeface="Arial" pitchFamily="34" charset="-122"/>
                <a:cs typeface="Arial" pitchFamily="34" charset="-120"/>
              </a:rPr>
              <a:t>2</a:t>
            </a:r>
            <a:endParaRPr lang="en-US" sz="1352" dirty="0"/>
          </a:p>
        </p:txBody>
      </p:sp>
      <p:sp>
        <p:nvSpPr>
          <p:cNvPr id="15" name="Text 13"/>
          <p:cNvSpPr txBox="1"/>
          <p:nvPr/>
        </p:nvSpPr>
        <p:spPr>
          <a:xfrm>
            <a:off x="4529328" y="2487168"/>
            <a:ext cx="3130296" cy="365760"/>
          </a:xfrm>
          <a:prstGeom prst="rect">
            <a:avLst/>
          </a:prstGeom>
          <a:noFill/>
          <a:ln/>
        </p:spPr>
        <p:txBody>
          <a:bodyPr wrap="square" lIns="0" tIns="0" rIns="0" bIns="0" rtlCol="0" anchor="ctr"/>
          <a:lstStyle/>
          <a:p>
            <a:pPr indent="0" marL="0">
              <a:buNone/>
            </a:pPr>
            <a:r>
              <a:rPr lang="en-US" sz="1450" b="1" dirty="0">
                <a:solidFill>
                  <a:srgbClr val="F3F1FF"/>
                </a:solidFill>
                <a:latin typeface="Arial" pitchFamily="34" charset="0"/>
                <a:ea typeface="Arial" pitchFamily="34" charset="-122"/>
                <a:cs typeface="Arial" pitchFamily="34" charset="-120"/>
              </a:rPr>
              <a:t>Update KB</a:t>
            </a:r>
            <a:endParaRPr lang="en-US" sz="1450" dirty="0"/>
          </a:p>
        </p:txBody>
      </p:sp>
      <p:sp>
        <p:nvSpPr>
          <p:cNvPr id="16" name="Text 14"/>
          <p:cNvSpPr txBox="1"/>
          <p:nvPr/>
        </p:nvSpPr>
        <p:spPr>
          <a:xfrm>
            <a:off x="4529328" y="2852928"/>
            <a:ext cx="3130296" cy="45720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Assert symbolic facts so the knowledge base matches this turn.</a:t>
            </a:r>
            <a:endParaRPr lang="en-US" sz="1050" dirty="0"/>
          </a:p>
        </p:txBody>
      </p:sp>
      <p:sp>
        <p:nvSpPr>
          <p:cNvPr id="17" name="Shape 15"/>
          <p:cNvSpPr/>
          <p:nvPr/>
        </p:nvSpPr>
        <p:spPr>
          <a:xfrm>
            <a:off x="8144256" y="1645920"/>
            <a:ext cx="3587496" cy="182880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18" name="Shape 16"/>
          <p:cNvSpPr/>
          <p:nvPr/>
        </p:nvSpPr>
        <p:spPr>
          <a:xfrm>
            <a:off x="8372856" y="1874520"/>
            <a:ext cx="475488" cy="475488"/>
          </a:xfrm>
          <a:prstGeom prst="hexagon">
            <a:avLst/>
          </a:prstGeom>
          <a:solidFill>
            <a:srgbClr val="00E5FF"/>
          </a:solidFill>
          <a:ln/>
        </p:spPr>
      </p:sp>
      <p:sp>
        <p:nvSpPr>
          <p:cNvPr id="19" name="Text 17"/>
          <p:cNvSpPr txBox="1"/>
          <p:nvPr/>
        </p:nvSpPr>
        <p:spPr>
          <a:xfrm>
            <a:off x="8372856" y="1874520"/>
            <a:ext cx="475488" cy="475488"/>
          </a:xfrm>
          <a:prstGeom prst="rect">
            <a:avLst/>
          </a:prstGeom>
          <a:noFill/>
          <a:ln/>
        </p:spPr>
        <p:txBody>
          <a:bodyPr wrap="square" lIns="0" tIns="0" rIns="0" bIns="0" rtlCol="0" anchor="ctr"/>
          <a:lstStyle/>
          <a:p>
            <a:pPr algn="ctr" indent="0" marL="0">
              <a:buNone/>
            </a:pPr>
            <a:r>
              <a:rPr lang="en-US" sz="1352" b="1" dirty="0">
                <a:solidFill>
                  <a:srgbClr val="0B0B1E"/>
                </a:solidFill>
                <a:latin typeface="Arial" pitchFamily="34" charset="0"/>
                <a:ea typeface="Arial" pitchFamily="34" charset="-122"/>
                <a:cs typeface="Arial" pitchFamily="34" charset="-120"/>
              </a:rPr>
              <a:t>3</a:t>
            </a:r>
            <a:endParaRPr lang="en-US" sz="1352" dirty="0"/>
          </a:p>
        </p:txBody>
      </p:sp>
      <p:sp>
        <p:nvSpPr>
          <p:cNvPr id="20" name="Text 18"/>
          <p:cNvSpPr txBox="1"/>
          <p:nvPr/>
        </p:nvSpPr>
        <p:spPr>
          <a:xfrm>
            <a:off x="8372856" y="2487168"/>
            <a:ext cx="3130296" cy="365760"/>
          </a:xfrm>
          <a:prstGeom prst="rect">
            <a:avLst/>
          </a:prstGeom>
          <a:noFill/>
          <a:ln/>
        </p:spPr>
        <p:txBody>
          <a:bodyPr wrap="square" lIns="0" tIns="0" rIns="0" bIns="0" rtlCol="0" anchor="ctr"/>
          <a:lstStyle/>
          <a:p>
            <a:pPr indent="0" marL="0">
              <a:buNone/>
            </a:pPr>
            <a:r>
              <a:rPr lang="en-US" sz="1450" b="1" dirty="0">
                <a:solidFill>
                  <a:srgbClr val="F3F1FF"/>
                </a:solidFill>
                <a:latin typeface="Arial" pitchFamily="34" charset="0"/>
                <a:ea typeface="Arial" pitchFamily="34" charset="-122"/>
                <a:cs typeface="Arial" pitchFamily="34" charset="-120"/>
              </a:rPr>
              <a:t>Match Rules</a:t>
            </a:r>
            <a:endParaRPr lang="en-US" sz="1450" dirty="0"/>
          </a:p>
        </p:txBody>
      </p:sp>
      <p:sp>
        <p:nvSpPr>
          <p:cNvPr id="21" name="Text 19"/>
          <p:cNvSpPr txBox="1"/>
          <p:nvPr/>
        </p:nvSpPr>
        <p:spPr>
          <a:xfrm>
            <a:off x="8372856" y="2852928"/>
            <a:ext cx="3130296" cy="45720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Forward-chain over the 8 rules to shortlist candidate tactical goals.</a:t>
            </a:r>
            <a:endParaRPr lang="en-US" sz="1050" dirty="0"/>
          </a:p>
        </p:txBody>
      </p:sp>
      <p:sp>
        <p:nvSpPr>
          <p:cNvPr id="22" name="Shape 20"/>
          <p:cNvSpPr/>
          <p:nvPr/>
        </p:nvSpPr>
        <p:spPr>
          <a:xfrm>
            <a:off x="457200" y="3749040"/>
            <a:ext cx="3587496" cy="182880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23" name="Shape 21"/>
          <p:cNvSpPr/>
          <p:nvPr/>
        </p:nvSpPr>
        <p:spPr>
          <a:xfrm>
            <a:off x="685800" y="3977640"/>
            <a:ext cx="475488" cy="475488"/>
          </a:xfrm>
          <a:prstGeom prst="hexagon">
            <a:avLst/>
          </a:prstGeom>
          <a:solidFill>
            <a:srgbClr val="00E5FF"/>
          </a:solidFill>
          <a:ln/>
        </p:spPr>
      </p:sp>
      <p:sp>
        <p:nvSpPr>
          <p:cNvPr id="24" name="Text 22"/>
          <p:cNvSpPr txBox="1"/>
          <p:nvPr/>
        </p:nvSpPr>
        <p:spPr>
          <a:xfrm>
            <a:off x="685800" y="3977640"/>
            <a:ext cx="475488" cy="475488"/>
          </a:xfrm>
          <a:prstGeom prst="rect">
            <a:avLst/>
          </a:prstGeom>
          <a:noFill/>
          <a:ln/>
        </p:spPr>
        <p:txBody>
          <a:bodyPr wrap="square" lIns="0" tIns="0" rIns="0" bIns="0" rtlCol="0" anchor="ctr"/>
          <a:lstStyle/>
          <a:p>
            <a:pPr algn="ctr" indent="0" marL="0">
              <a:buNone/>
            </a:pPr>
            <a:r>
              <a:rPr lang="en-US" sz="1352" b="1" dirty="0">
                <a:solidFill>
                  <a:srgbClr val="0B0B1E"/>
                </a:solidFill>
                <a:latin typeface="Arial" pitchFamily="34" charset="0"/>
                <a:ea typeface="Arial" pitchFamily="34" charset="-122"/>
                <a:cs typeface="Arial" pitchFamily="34" charset="-120"/>
              </a:rPr>
              <a:t>4</a:t>
            </a:r>
            <a:endParaRPr lang="en-US" sz="1352" dirty="0"/>
          </a:p>
        </p:txBody>
      </p:sp>
      <p:sp>
        <p:nvSpPr>
          <p:cNvPr id="25" name="Text 23"/>
          <p:cNvSpPr txBox="1"/>
          <p:nvPr/>
        </p:nvSpPr>
        <p:spPr>
          <a:xfrm>
            <a:off x="685800" y="4590288"/>
            <a:ext cx="3130296" cy="365760"/>
          </a:xfrm>
          <a:prstGeom prst="rect">
            <a:avLst/>
          </a:prstGeom>
          <a:noFill/>
          <a:ln/>
        </p:spPr>
        <p:txBody>
          <a:bodyPr wrap="square" lIns="0" tIns="0" rIns="0" bIns="0" rtlCol="0" anchor="ctr"/>
          <a:lstStyle/>
          <a:p>
            <a:pPr indent="0" marL="0">
              <a:buNone/>
            </a:pPr>
            <a:r>
              <a:rPr lang="en-US" sz="1450" b="1" dirty="0">
                <a:solidFill>
                  <a:srgbClr val="F3F1FF"/>
                </a:solidFill>
                <a:latin typeface="Arial" pitchFamily="34" charset="0"/>
                <a:ea typeface="Arial" pitchFamily="34" charset="-122"/>
                <a:cs typeface="Arial" pitchFamily="34" charset="-120"/>
              </a:rPr>
              <a:t>Plan</a:t>
            </a:r>
            <a:endParaRPr lang="en-US" sz="1450" dirty="0"/>
          </a:p>
        </p:txBody>
      </p:sp>
      <p:sp>
        <p:nvSpPr>
          <p:cNvPr id="26" name="Text 24"/>
          <p:cNvSpPr txBox="1"/>
          <p:nvPr/>
        </p:nvSpPr>
        <p:spPr>
          <a:xfrm>
            <a:off x="685800" y="4956048"/>
            <a:ext cx="3130296" cy="45720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For each goal, run a GOAP / uniform-cost search to find an action sequence.</a:t>
            </a:r>
            <a:endParaRPr lang="en-US" sz="1050" dirty="0"/>
          </a:p>
        </p:txBody>
      </p:sp>
      <p:sp>
        <p:nvSpPr>
          <p:cNvPr id="27" name="Shape 25"/>
          <p:cNvSpPr/>
          <p:nvPr/>
        </p:nvSpPr>
        <p:spPr>
          <a:xfrm>
            <a:off x="4300728" y="3749040"/>
            <a:ext cx="3587496" cy="182880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28" name="Shape 26"/>
          <p:cNvSpPr/>
          <p:nvPr/>
        </p:nvSpPr>
        <p:spPr>
          <a:xfrm>
            <a:off x="4529328" y="3977640"/>
            <a:ext cx="475488" cy="475488"/>
          </a:xfrm>
          <a:prstGeom prst="hexagon">
            <a:avLst/>
          </a:prstGeom>
          <a:solidFill>
            <a:srgbClr val="00E5FF"/>
          </a:solidFill>
          <a:ln/>
        </p:spPr>
      </p:sp>
      <p:sp>
        <p:nvSpPr>
          <p:cNvPr id="29" name="Text 27"/>
          <p:cNvSpPr txBox="1"/>
          <p:nvPr/>
        </p:nvSpPr>
        <p:spPr>
          <a:xfrm>
            <a:off x="4529328" y="3977640"/>
            <a:ext cx="475488" cy="475488"/>
          </a:xfrm>
          <a:prstGeom prst="rect">
            <a:avLst/>
          </a:prstGeom>
          <a:noFill/>
          <a:ln/>
        </p:spPr>
        <p:txBody>
          <a:bodyPr wrap="square" lIns="0" tIns="0" rIns="0" bIns="0" rtlCol="0" anchor="ctr"/>
          <a:lstStyle/>
          <a:p>
            <a:pPr algn="ctr" indent="0" marL="0">
              <a:buNone/>
            </a:pPr>
            <a:r>
              <a:rPr lang="en-US" sz="1352" b="1" dirty="0">
                <a:solidFill>
                  <a:srgbClr val="0B0B1E"/>
                </a:solidFill>
                <a:latin typeface="Arial" pitchFamily="34" charset="0"/>
                <a:ea typeface="Arial" pitchFamily="34" charset="-122"/>
                <a:cs typeface="Arial" pitchFamily="34" charset="-120"/>
              </a:rPr>
              <a:t>5</a:t>
            </a:r>
            <a:endParaRPr lang="en-US" sz="1352" dirty="0"/>
          </a:p>
        </p:txBody>
      </p:sp>
      <p:sp>
        <p:nvSpPr>
          <p:cNvPr id="30" name="Text 28"/>
          <p:cNvSpPr txBox="1"/>
          <p:nvPr/>
        </p:nvSpPr>
        <p:spPr>
          <a:xfrm>
            <a:off x="4529328" y="4590288"/>
            <a:ext cx="3130296" cy="365760"/>
          </a:xfrm>
          <a:prstGeom prst="rect">
            <a:avLst/>
          </a:prstGeom>
          <a:noFill/>
          <a:ln/>
        </p:spPr>
        <p:txBody>
          <a:bodyPr wrap="square" lIns="0" tIns="0" rIns="0" bIns="0" rtlCol="0" anchor="ctr"/>
          <a:lstStyle/>
          <a:p>
            <a:pPr indent="0" marL="0">
              <a:buNone/>
            </a:pPr>
            <a:r>
              <a:rPr lang="en-US" sz="1450" b="1" dirty="0">
                <a:solidFill>
                  <a:srgbClr val="F3F1FF"/>
                </a:solidFill>
                <a:latin typeface="Arial" pitchFamily="34" charset="0"/>
                <a:ea typeface="Arial" pitchFamily="34" charset="-122"/>
                <a:cs typeface="Arial" pitchFamily="34" charset="-120"/>
              </a:rPr>
              <a:t>Score</a:t>
            </a:r>
            <a:endParaRPr lang="en-US" sz="1450" dirty="0"/>
          </a:p>
        </p:txBody>
      </p:sp>
      <p:sp>
        <p:nvSpPr>
          <p:cNvPr id="31" name="Text 29"/>
          <p:cNvSpPr txBox="1"/>
          <p:nvPr/>
        </p:nvSpPr>
        <p:spPr>
          <a:xfrm>
            <a:off x="4529328" y="4956048"/>
            <a:ext cx="3130296" cy="45720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Rank plans with a utility function weighted by the current aggression level.</a:t>
            </a:r>
            <a:endParaRPr lang="en-US" sz="1050" dirty="0"/>
          </a:p>
        </p:txBody>
      </p:sp>
      <p:sp>
        <p:nvSpPr>
          <p:cNvPr id="32" name="Shape 30"/>
          <p:cNvSpPr/>
          <p:nvPr/>
        </p:nvSpPr>
        <p:spPr>
          <a:xfrm>
            <a:off x="8144256" y="3749040"/>
            <a:ext cx="3587496" cy="1828800"/>
          </a:xfrm>
          <a:prstGeom prst="roundRect">
            <a:avLst>
              <a:gd name="adj" fmla="val 4000"/>
            </a:avLst>
          </a:prstGeom>
          <a:solidFill>
            <a:srgbClr val="16163A"/>
          </a:solidFill>
          <a:ln/>
          <a:effectLst>
            <a:outerShdw sx="100000" sy="100000" kx="0" ky="0" algn="bl" rotWithShape="0" blurRad="101600" dist="38100" dir="5400000">
              <a:srgbClr val="000000">
                <a:alpha val="35000"/>
              </a:srgbClr>
            </a:outerShdw>
          </a:effectLst>
        </p:spPr>
      </p:sp>
      <p:sp>
        <p:nvSpPr>
          <p:cNvPr id="33" name="Shape 31"/>
          <p:cNvSpPr/>
          <p:nvPr/>
        </p:nvSpPr>
        <p:spPr>
          <a:xfrm>
            <a:off x="8372856" y="3977640"/>
            <a:ext cx="475488" cy="475488"/>
          </a:xfrm>
          <a:prstGeom prst="hexagon">
            <a:avLst/>
          </a:prstGeom>
          <a:solidFill>
            <a:srgbClr val="00E5FF"/>
          </a:solidFill>
          <a:ln/>
        </p:spPr>
      </p:sp>
      <p:sp>
        <p:nvSpPr>
          <p:cNvPr id="34" name="Text 32"/>
          <p:cNvSpPr txBox="1"/>
          <p:nvPr/>
        </p:nvSpPr>
        <p:spPr>
          <a:xfrm>
            <a:off x="8372856" y="3977640"/>
            <a:ext cx="475488" cy="475488"/>
          </a:xfrm>
          <a:prstGeom prst="rect">
            <a:avLst/>
          </a:prstGeom>
          <a:noFill/>
          <a:ln/>
        </p:spPr>
        <p:txBody>
          <a:bodyPr wrap="square" lIns="0" tIns="0" rIns="0" bIns="0" rtlCol="0" anchor="ctr"/>
          <a:lstStyle/>
          <a:p>
            <a:pPr algn="ctr" indent="0" marL="0">
              <a:buNone/>
            </a:pPr>
            <a:r>
              <a:rPr lang="en-US" sz="1352" b="1" dirty="0">
                <a:solidFill>
                  <a:srgbClr val="0B0B1E"/>
                </a:solidFill>
                <a:latin typeface="Arial" pitchFamily="34" charset="0"/>
                <a:ea typeface="Arial" pitchFamily="34" charset="-122"/>
                <a:cs typeface="Arial" pitchFamily="34" charset="-120"/>
              </a:rPr>
              <a:t>6</a:t>
            </a:r>
            <a:endParaRPr lang="en-US" sz="1352" dirty="0"/>
          </a:p>
        </p:txBody>
      </p:sp>
      <p:sp>
        <p:nvSpPr>
          <p:cNvPr id="35" name="Text 33"/>
          <p:cNvSpPr txBox="1"/>
          <p:nvPr/>
        </p:nvSpPr>
        <p:spPr>
          <a:xfrm>
            <a:off x="8372856" y="4590288"/>
            <a:ext cx="3130296" cy="365760"/>
          </a:xfrm>
          <a:prstGeom prst="rect">
            <a:avLst/>
          </a:prstGeom>
          <a:noFill/>
          <a:ln/>
        </p:spPr>
        <p:txBody>
          <a:bodyPr wrap="square" lIns="0" tIns="0" rIns="0" bIns="0" rtlCol="0" anchor="ctr"/>
          <a:lstStyle/>
          <a:p>
            <a:pPr indent="0" marL="0">
              <a:buNone/>
            </a:pPr>
            <a:r>
              <a:rPr lang="en-US" sz="1450" b="1" dirty="0">
                <a:solidFill>
                  <a:srgbClr val="F3F1FF"/>
                </a:solidFill>
                <a:latin typeface="Arial" pitchFamily="34" charset="0"/>
                <a:ea typeface="Arial" pitchFamily="34" charset="-122"/>
                <a:cs typeface="Arial" pitchFamily="34" charset="-120"/>
              </a:rPr>
              <a:t>Act &amp; Log</a:t>
            </a:r>
            <a:endParaRPr lang="en-US" sz="1450" dirty="0"/>
          </a:p>
        </p:txBody>
      </p:sp>
      <p:sp>
        <p:nvSpPr>
          <p:cNvPr id="36" name="Text 34"/>
          <p:cNvSpPr txBox="1"/>
          <p:nvPr/>
        </p:nvSpPr>
        <p:spPr>
          <a:xfrm>
            <a:off x="8372856" y="4956048"/>
            <a:ext cx="3130296" cy="45720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Execute the top plan and write its rule / fact trail to the explanation log.</a:t>
            </a:r>
            <a:endParaRPr lang="en-US" sz="1050" dirty="0"/>
          </a:p>
        </p:txBody>
      </p:sp>
      <p:sp>
        <p:nvSpPr>
          <p:cNvPr id="37" name="Text 35"/>
          <p:cNvSpPr txBox="1"/>
          <p:nvPr/>
        </p:nvSpPr>
        <p:spPr>
          <a:xfrm>
            <a:off x="457200" y="5715000"/>
            <a:ext cx="11274552" cy="365760"/>
          </a:xfrm>
          <a:prstGeom prst="rect">
            <a:avLst/>
          </a:prstGeom>
          <a:noFill/>
          <a:ln/>
        </p:spPr>
        <p:txBody>
          <a:bodyPr wrap="square" lIns="0" tIns="0" rIns="0" bIns="0" rtlCol="0" anchor="ctr"/>
          <a:lstStyle/>
          <a:p>
            <a:pPr algn="ctr" indent="0" marL="0">
              <a:buNone/>
            </a:pPr>
            <a:r>
              <a:rPr lang="en-US" sz="1150" i="1" dirty="0">
                <a:solidFill>
                  <a:srgbClr val="00E5FF"/>
                </a:solidFill>
                <a:latin typeface="Calibri" pitchFamily="34" charset="0"/>
                <a:ea typeface="Calibri" pitchFamily="34" charset="-122"/>
                <a:cs typeface="Calibri" pitchFamily="34" charset="-120"/>
              </a:rPr>
              <a:t>Loop repeats for every enemy unit each turn — step 5's aggression weighting is what makes the Game Master adaptive rather than fixed.</a:t>
            </a:r>
            <a:endParaRPr lang="en-US" sz="1150" dirty="0"/>
          </a:p>
        </p:txBody>
      </p:sp>
      <p:sp>
        <p:nvSpPr>
          <p:cNvPr id="38" name="Text 36"/>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6 · PROPOSED WORK · ALGORITHM</a:t>
            </a:r>
            <a:endParaRPr lang="en-US" sz="900" dirty="0"/>
          </a:p>
        </p:txBody>
      </p:sp>
      <p:sp>
        <p:nvSpPr>
          <p:cNvPr id="39" name="Text 37"/>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40" name="Text 38"/>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7 · IMPLEMENTATION</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Modules of the System</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4592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8" name="Shape 6"/>
          <p:cNvSpPr/>
          <p:nvPr/>
        </p:nvSpPr>
        <p:spPr>
          <a:xfrm>
            <a:off x="685800" y="1874520"/>
            <a:ext cx="457200" cy="457200"/>
          </a:xfrm>
          <a:prstGeom prst="hexagon">
            <a:avLst/>
          </a:prstGeom>
          <a:solidFill>
            <a:srgbClr val="7B2FF7"/>
          </a:solidFill>
          <a:ln/>
        </p:spPr>
      </p:sp>
      <p:sp>
        <p:nvSpPr>
          <p:cNvPr id="9" name="Text 7"/>
          <p:cNvSpPr txBox="1"/>
          <p:nvPr/>
        </p:nvSpPr>
        <p:spPr>
          <a:xfrm>
            <a:off x="685800" y="1874520"/>
            <a:ext cx="457200" cy="457200"/>
          </a:xfrm>
          <a:prstGeom prst="rect">
            <a:avLst/>
          </a:prstGeom>
          <a:noFill/>
          <a:ln/>
        </p:spPr>
        <p:txBody>
          <a:bodyPr wrap="square" lIns="0" tIns="0" rIns="0" bIns="0" rtlCol="0" anchor="ctr"/>
          <a:lstStyle/>
          <a:p>
            <a:pPr algn="ctr" indent="0" marL="0">
              <a:buNone/>
            </a:pPr>
            <a:endParaRPr lang="en-US" sz="1300" dirty="0"/>
          </a:p>
        </p:txBody>
      </p:sp>
      <p:sp>
        <p:nvSpPr>
          <p:cNvPr id="10" name="Text 8"/>
          <p:cNvSpPr txBox="1"/>
          <p:nvPr/>
        </p:nvSpPr>
        <p:spPr>
          <a:xfrm>
            <a:off x="685800" y="2514600"/>
            <a:ext cx="3154680" cy="411480"/>
          </a:xfrm>
          <a:prstGeom prst="rect">
            <a:avLst/>
          </a:prstGeom>
          <a:noFill/>
          <a:ln/>
        </p:spPr>
        <p:txBody>
          <a:bodyPr wrap="square" lIns="0" tIns="0" rIns="0" bIns="0" rtlCol="0" anchor="ctr"/>
          <a:lstStyle/>
          <a:p>
            <a:pPr indent="0" marL="0">
              <a:buNone/>
            </a:pPr>
            <a:r>
              <a:rPr lang="en-US" sz="1350" b="1" dirty="0">
                <a:solidFill>
                  <a:srgbClr val="F3F1FF"/>
                </a:solidFill>
                <a:latin typeface="Arial" pitchFamily="34" charset="0"/>
                <a:ea typeface="Arial" pitchFamily="34" charset="-122"/>
                <a:cs typeface="Arial" pitchFamily="34" charset="-120"/>
              </a:rPr>
              <a:t>Combat Engine</a:t>
            </a:r>
            <a:endParaRPr lang="en-US" sz="1350" dirty="0"/>
          </a:p>
        </p:txBody>
      </p:sp>
      <p:sp>
        <p:nvSpPr>
          <p:cNvPr id="11" name="Text 9"/>
          <p:cNvSpPr txBox="1"/>
          <p:nvPr/>
        </p:nvSpPr>
        <p:spPr>
          <a:xfrm>
            <a:off x="685800" y="2926080"/>
            <a:ext cx="3154680" cy="50292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combat.py — grid, units, damage, cover and flanking rules</a:t>
            </a:r>
            <a:endParaRPr lang="en-US" sz="1050" dirty="0"/>
          </a:p>
        </p:txBody>
      </p:sp>
      <p:sp>
        <p:nvSpPr>
          <p:cNvPr id="12" name="Shape 10"/>
          <p:cNvSpPr/>
          <p:nvPr/>
        </p:nvSpPr>
        <p:spPr>
          <a:xfrm>
            <a:off x="4288536" y="164592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13" name="Shape 11"/>
          <p:cNvSpPr/>
          <p:nvPr/>
        </p:nvSpPr>
        <p:spPr>
          <a:xfrm>
            <a:off x="4517136" y="1874520"/>
            <a:ext cx="457200" cy="457200"/>
          </a:xfrm>
          <a:prstGeom prst="hexagon">
            <a:avLst/>
          </a:prstGeom>
          <a:solidFill>
            <a:srgbClr val="7B2FF7"/>
          </a:solidFill>
          <a:ln/>
        </p:spPr>
      </p:sp>
      <p:sp>
        <p:nvSpPr>
          <p:cNvPr id="14" name="Text 12"/>
          <p:cNvSpPr txBox="1"/>
          <p:nvPr/>
        </p:nvSpPr>
        <p:spPr>
          <a:xfrm>
            <a:off x="4517136" y="1874520"/>
            <a:ext cx="457200" cy="457200"/>
          </a:xfrm>
          <a:prstGeom prst="rect">
            <a:avLst/>
          </a:prstGeom>
          <a:noFill/>
          <a:ln/>
        </p:spPr>
        <p:txBody>
          <a:bodyPr wrap="square" lIns="0" tIns="0" rIns="0" bIns="0" rtlCol="0" anchor="ctr"/>
          <a:lstStyle/>
          <a:p>
            <a:pPr algn="ctr" indent="0" marL="0">
              <a:buNone/>
            </a:pPr>
            <a:endParaRPr lang="en-US" sz="1300" dirty="0"/>
          </a:p>
        </p:txBody>
      </p:sp>
      <p:sp>
        <p:nvSpPr>
          <p:cNvPr id="15" name="Text 13"/>
          <p:cNvSpPr txBox="1"/>
          <p:nvPr/>
        </p:nvSpPr>
        <p:spPr>
          <a:xfrm>
            <a:off x="4517136" y="2514600"/>
            <a:ext cx="3154680" cy="411480"/>
          </a:xfrm>
          <a:prstGeom prst="rect">
            <a:avLst/>
          </a:prstGeom>
          <a:noFill/>
          <a:ln/>
        </p:spPr>
        <p:txBody>
          <a:bodyPr wrap="square" lIns="0" tIns="0" rIns="0" bIns="0" rtlCol="0" anchor="ctr"/>
          <a:lstStyle/>
          <a:p>
            <a:pPr indent="0" marL="0">
              <a:buNone/>
            </a:pPr>
            <a:r>
              <a:rPr lang="en-US" sz="1350" b="1" dirty="0">
                <a:solidFill>
                  <a:srgbClr val="F3F1FF"/>
                </a:solidFill>
                <a:latin typeface="Arial" pitchFamily="34" charset="0"/>
                <a:ea typeface="Arial" pitchFamily="34" charset="-122"/>
                <a:cs typeface="Arial" pitchFamily="34" charset="-120"/>
              </a:rPr>
              <a:t>Knowledge Base</a:t>
            </a:r>
            <a:endParaRPr lang="en-US" sz="1350" dirty="0"/>
          </a:p>
        </p:txBody>
      </p:sp>
      <p:sp>
        <p:nvSpPr>
          <p:cNvPr id="16" name="Text 14"/>
          <p:cNvSpPr txBox="1"/>
          <p:nvPr/>
        </p:nvSpPr>
        <p:spPr>
          <a:xfrm>
            <a:off x="4517136" y="2926080"/>
            <a:ext cx="3154680" cy="50292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knowledge_base.py — perception and symbolic fact store</a:t>
            </a:r>
            <a:endParaRPr lang="en-US" sz="1050" dirty="0"/>
          </a:p>
        </p:txBody>
      </p:sp>
      <p:sp>
        <p:nvSpPr>
          <p:cNvPr id="17" name="Shape 15"/>
          <p:cNvSpPr/>
          <p:nvPr/>
        </p:nvSpPr>
        <p:spPr>
          <a:xfrm>
            <a:off x="8119872" y="164592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18" name="Shape 16"/>
          <p:cNvSpPr/>
          <p:nvPr/>
        </p:nvSpPr>
        <p:spPr>
          <a:xfrm>
            <a:off x="8348472" y="1874520"/>
            <a:ext cx="457200" cy="457200"/>
          </a:xfrm>
          <a:prstGeom prst="hexagon">
            <a:avLst/>
          </a:prstGeom>
          <a:solidFill>
            <a:srgbClr val="7B2FF7"/>
          </a:solidFill>
          <a:ln/>
        </p:spPr>
      </p:sp>
      <p:sp>
        <p:nvSpPr>
          <p:cNvPr id="19" name="Text 17"/>
          <p:cNvSpPr txBox="1"/>
          <p:nvPr/>
        </p:nvSpPr>
        <p:spPr>
          <a:xfrm>
            <a:off x="8348472" y="1874520"/>
            <a:ext cx="457200" cy="457200"/>
          </a:xfrm>
          <a:prstGeom prst="rect">
            <a:avLst/>
          </a:prstGeom>
          <a:noFill/>
          <a:ln/>
        </p:spPr>
        <p:txBody>
          <a:bodyPr wrap="square" lIns="0" tIns="0" rIns="0" bIns="0" rtlCol="0" anchor="ctr"/>
          <a:lstStyle/>
          <a:p>
            <a:pPr algn="ctr" indent="0" marL="0">
              <a:buNone/>
            </a:pPr>
            <a:endParaRPr lang="en-US" sz="1300" dirty="0"/>
          </a:p>
        </p:txBody>
      </p:sp>
      <p:sp>
        <p:nvSpPr>
          <p:cNvPr id="20" name="Text 18"/>
          <p:cNvSpPr txBox="1"/>
          <p:nvPr/>
        </p:nvSpPr>
        <p:spPr>
          <a:xfrm>
            <a:off x="8348472" y="2514600"/>
            <a:ext cx="3154680" cy="411480"/>
          </a:xfrm>
          <a:prstGeom prst="rect">
            <a:avLst/>
          </a:prstGeom>
          <a:noFill/>
          <a:ln/>
        </p:spPr>
        <p:txBody>
          <a:bodyPr wrap="square" lIns="0" tIns="0" rIns="0" bIns="0" rtlCol="0" anchor="ctr"/>
          <a:lstStyle/>
          <a:p>
            <a:pPr indent="0" marL="0">
              <a:buNone/>
            </a:pPr>
            <a:r>
              <a:rPr lang="en-US" sz="1350" b="1" dirty="0">
                <a:solidFill>
                  <a:srgbClr val="F3F1FF"/>
                </a:solidFill>
                <a:latin typeface="Arial" pitchFamily="34" charset="0"/>
                <a:ea typeface="Arial" pitchFamily="34" charset="-122"/>
                <a:cs typeface="Arial" pitchFamily="34" charset="-120"/>
              </a:rPr>
              <a:t>Rule Engine</a:t>
            </a:r>
            <a:endParaRPr lang="en-US" sz="1350" dirty="0"/>
          </a:p>
        </p:txBody>
      </p:sp>
      <p:sp>
        <p:nvSpPr>
          <p:cNvPr id="21" name="Text 19"/>
          <p:cNvSpPr txBox="1"/>
          <p:nvPr/>
        </p:nvSpPr>
        <p:spPr>
          <a:xfrm>
            <a:off x="8348472" y="2926080"/>
            <a:ext cx="3154680" cy="50292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rules.py — forward-chaining inference with derivation tracking</a:t>
            </a:r>
            <a:endParaRPr lang="en-US" sz="1050" dirty="0"/>
          </a:p>
        </p:txBody>
      </p:sp>
      <p:sp>
        <p:nvSpPr>
          <p:cNvPr id="22" name="Shape 20"/>
          <p:cNvSpPr/>
          <p:nvPr/>
        </p:nvSpPr>
        <p:spPr>
          <a:xfrm>
            <a:off x="457200" y="384048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23" name="Shape 21"/>
          <p:cNvSpPr/>
          <p:nvPr/>
        </p:nvSpPr>
        <p:spPr>
          <a:xfrm>
            <a:off x="685800" y="4069080"/>
            <a:ext cx="457200" cy="457200"/>
          </a:xfrm>
          <a:prstGeom prst="hexagon">
            <a:avLst/>
          </a:prstGeom>
          <a:solidFill>
            <a:srgbClr val="7B2FF7"/>
          </a:solidFill>
          <a:ln/>
        </p:spPr>
      </p:sp>
      <p:sp>
        <p:nvSpPr>
          <p:cNvPr id="24" name="Text 22"/>
          <p:cNvSpPr txBox="1"/>
          <p:nvPr/>
        </p:nvSpPr>
        <p:spPr>
          <a:xfrm>
            <a:off x="685800" y="4069080"/>
            <a:ext cx="457200" cy="457200"/>
          </a:xfrm>
          <a:prstGeom prst="rect">
            <a:avLst/>
          </a:prstGeom>
          <a:noFill/>
          <a:ln/>
        </p:spPr>
        <p:txBody>
          <a:bodyPr wrap="square" lIns="0" tIns="0" rIns="0" bIns="0" rtlCol="0" anchor="ctr"/>
          <a:lstStyle/>
          <a:p>
            <a:pPr algn="ctr" indent="0" marL="0">
              <a:buNone/>
            </a:pPr>
            <a:endParaRPr lang="en-US" sz="1300" dirty="0"/>
          </a:p>
        </p:txBody>
      </p:sp>
      <p:sp>
        <p:nvSpPr>
          <p:cNvPr id="25" name="Text 23"/>
          <p:cNvSpPr txBox="1"/>
          <p:nvPr/>
        </p:nvSpPr>
        <p:spPr>
          <a:xfrm>
            <a:off x="685800" y="4709160"/>
            <a:ext cx="3154680" cy="411480"/>
          </a:xfrm>
          <a:prstGeom prst="rect">
            <a:avLst/>
          </a:prstGeom>
          <a:noFill/>
          <a:ln/>
        </p:spPr>
        <p:txBody>
          <a:bodyPr wrap="square" lIns="0" tIns="0" rIns="0" bIns="0" rtlCol="0" anchor="ctr"/>
          <a:lstStyle/>
          <a:p>
            <a:pPr indent="0" marL="0">
              <a:buNone/>
            </a:pPr>
            <a:r>
              <a:rPr lang="en-US" sz="1350" b="1" dirty="0">
                <a:solidFill>
                  <a:srgbClr val="F3F1FF"/>
                </a:solidFill>
                <a:latin typeface="Arial" pitchFamily="34" charset="0"/>
                <a:ea typeface="Arial" pitchFamily="34" charset="-122"/>
                <a:cs typeface="Arial" pitchFamily="34" charset="-120"/>
              </a:rPr>
              <a:t>GOAP Planner</a:t>
            </a:r>
            <a:endParaRPr lang="en-US" sz="1350" dirty="0"/>
          </a:p>
        </p:txBody>
      </p:sp>
      <p:sp>
        <p:nvSpPr>
          <p:cNvPr id="26" name="Text 24"/>
          <p:cNvSpPr txBox="1"/>
          <p:nvPr/>
        </p:nvSpPr>
        <p:spPr>
          <a:xfrm>
            <a:off x="685800" y="5120640"/>
            <a:ext cx="3154680" cy="50292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planner.py — uniform-cost search over (position, moves, attacked) states</a:t>
            </a:r>
            <a:endParaRPr lang="en-US" sz="1050" dirty="0"/>
          </a:p>
        </p:txBody>
      </p:sp>
      <p:sp>
        <p:nvSpPr>
          <p:cNvPr id="27" name="Shape 25"/>
          <p:cNvSpPr/>
          <p:nvPr/>
        </p:nvSpPr>
        <p:spPr>
          <a:xfrm>
            <a:off x="4288536" y="384048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28" name="Shape 26"/>
          <p:cNvSpPr/>
          <p:nvPr/>
        </p:nvSpPr>
        <p:spPr>
          <a:xfrm>
            <a:off x="4517136" y="4069080"/>
            <a:ext cx="457200" cy="457200"/>
          </a:xfrm>
          <a:prstGeom prst="hexagon">
            <a:avLst/>
          </a:prstGeom>
          <a:solidFill>
            <a:srgbClr val="7B2FF7"/>
          </a:solidFill>
          <a:ln/>
        </p:spPr>
      </p:sp>
      <p:sp>
        <p:nvSpPr>
          <p:cNvPr id="29" name="Text 27"/>
          <p:cNvSpPr txBox="1"/>
          <p:nvPr/>
        </p:nvSpPr>
        <p:spPr>
          <a:xfrm>
            <a:off x="4517136" y="4069080"/>
            <a:ext cx="457200" cy="457200"/>
          </a:xfrm>
          <a:prstGeom prst="rect">
            <a:avLst/>
          </a:prstGeom>
          <a:noFill/>
          <a:ln/>
        </p:spPr>
        <p:txBody>
          <a:bodyPr wrap="square" lIns="0" tIns="0" rIns="0" bIns="0" rtlCol="0" anchor="ctr"/>
          <a:lstStyle/>
          <a:p>
            <a:pPr algn="ctr" indent="0" marL="0">
              <a:buNone/>
            </a:pPr>
            <a:endParaRPr lang="en-US" sz="1300" dirty="0"/>
          </a:p>
        </p:txBody>
      </p:sp>
      <p:sp>
        <p:nvSpPr>
          <p:cNvPr id="30" name="Text 28"/>
          <p:cNvSpPr txBox="1"/>
          <p:nvPr/>
        </p:nvSpPr>
        <p:spPr>
          <a:xfrm>
            <a:off x="4517136" y="4709160"/>
            <a:ext cx="3154680" cy="411480"/>
          </a:xfrm>
          <a:prstGeom prst="rect">
            <a:avLst/>
          </a:prstGeom>
          <a:noFill/>
          <a:ln/>
        </p:spPr>
        <p:txBody>
          <a:bodyPr wrap="square" lIns="0" tIns="0" rIns="0" bIns="0" rtlCol="0" anchor="ctr"/>
          <a:lstStyle/>
          <a:p>
            <a:pPr indent="0" marL="0">
              <a:buNone/>
            </a:pPr>
            <a:r>
              <a:rPr lang="en-US" sz="1350" b="1" dirty="0">
                <a:solidFill>
                  <a:srgbClr val="F3F1FF"/>
                </a:solidFill>
                <a:latin typeface="Arial" pitchFamily="34" charset="0"/>
                <a:ea typeface="Arial" pitchFamily="34" charset="-122"/>
                <a:cs typeface="Arial" pitchFamily="34" charset="-120"/>
              </a:rPr>
              <a:t>Difficulty Adapter</a:t>
            </a:r>
            <a:endParaRPr lang="en-US" sz="1350" dirty="0"/>
          </a:p>
        </p:txBody>
      </p:sp>
      <p:sp>
        <p:nvSpPr>
          <p:cNvPr id="31" name="Text 29"/>
          <p:cNvSpPr txBox="1"/>
          <p:nvPr/>
        </p:nvSpPr>
        <p:spPr>
          <a:xfrm>
            <a:off x="4517136" y="5120640"/>
            <a:ext cx="3154680" cy="50292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difficulty.py — retunes aggression from player performance</a:t>
            </a:r>
            <a:endParaRPr lang="en-US" sz="1050" dirty="0"/>
          </a:p>
        </p:txBody>
      </p:sp>
      <p:sp>
        <p:nvSpPr>
          <p:cNvPr id="32" name="Shape 30"/>
          <p:cNvSpPr/>
          <p:nvPr/>
        </p:nvSpPr>
        <p:spPr>
          <a:xfrm>
            <a:off x="8119872" y="384048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33" name="Shape 31"/>
          <p:cNvSpPr/>
          <p:nvPr/>
        </p:nvSpPr>
        <p:spPr>
          <a:xfrm>
            <a:off x="8348472" y="4069080"/>
            <a:ext cx="457200" cy="457200"/>
          </a:xfrm>
          <a:prstGeom prst="hexagon">
            <a:avLst/>
          </a:prstGeom>
          <a:solidFill>
            <a:srgbClr val="7B2FF7"/>
          </a:solidFill>
          <a:ln/>
        </p:spPr>
      </p:sp>
      <p:sp>
        <p:nvSpPr>
          <p:cNvPr id="34" name="Text 32"/>
          <p:cNvSpPr txBox="1"/>
          <p:nvPr/>
        </p:nvSpPr>
        <p:spPr>
          <a:xfrm>
            <a:off x="8348472" y="4069080"/>
            <a:ext cx="457200" cy="457200"/>
          </a:xfrm>
          <a:prstGeom prst="rect">
            <a:avLst/>
          </a:prstGeom>
          <a:noFill/>
          <a:ln/>
        </p:spPr>
        <p:txBody>
          <a:bodyPr wrap="square" lIns="0" tIns="0" rIns="0" bIns="0" rtlCol="0" anchor="ctr"/>
          <a:lstStyle/>
          <a:p>
            <a:pPr algn="ctr" indent="0" marL="0">
              <a:buNone/>
            </a:pPr>
            <a:endParaRPr lang="en-US" sz="1300" dirty="0"/>
          </a:p>
        </p:txBody>
      </p:sp>
      <p:sp>
        <p:nvSpPr>
          <p:cNvPr id="35" name="Text 33"/>
          <p:cNvSpPr txBox="1"/>
          <p:nvPr/>
        </p:nvSpPr>
        <p:spPr>
          <a:xfrm>
            <a:off x="8348472" y="4709160"/>
            <a:ext cx="3154680" cy="411480"/>
          </a:xfrm>
          <a:prstGeom prst="rect">
            <a:avLst/>
          </a:prstGeom>
          <a:noFill/>
          <a:ln/>
        </p:spPr>
        <p:txBody>
          <a:bodyPr wrap="square" lIns="0" tIns="0" rIns="0" bIns="0" rtlCol="0" anchor="ctr"/>
          <a:lstStyle/>
          <a:p>
            <a:pPr indent="0" marL="0">
              <a:buNone/>
            </a:pPr>
            <a:r>
              <a:rPr lang="en-US" sz="1350" b="1" dirty="0">
                <a:solidFill>
                  <a:srgbClr val="F3F1FF"/>
                </a:solidFill>
                <a:latin typeface="Arial" pitchFamily="34" charset="0"/>
                <a:ea typeface="Arial" pitchFamily="34" charset="-122"/>
                <a:cs typeface="Arial" pitchFamily="34" charset="-120"/>
              </a:rPr>
              <a:t>Explanation Log</a:t>
            </a:r>
            <a:endParaRPr lang="en-US" sz="1350" dirty="0"/>
          </a:p>
        </p:txBody>
      </p:sp>
      <p:sp>
        <p:nvSpPr>
          <p:cNvPr id="36" name="Text 34"/>
          <p:cNvSpPr txBox="1"/>
          <p:nvPr/>
        </p:nvSpPr>
        <p:spPr>
          <a:xfrm>
            <a:off x="8348472" y="5120640"/>
            <a:ext cx="3154680" cy="502920"/>
          </a:xfrm>
          <a:prstGeom prst="rect">
            <a:avLst/>
          </a:prstGeom>
          <a:noFill/>
          <a:ln/>
        </p:spPr>
        <p:txBody>
          <a:bodyPr wrap="square" lIns="0" tIns="0" rIns="0" bIns="0" rtlCol="0" anchor="ctr"/>
          <a:lstStyle/>
          <a:p>
            <a:pPr indent="0" marL="0">
              <a:lnSpc>
                <a:spcPct val="115000"/>
              </a:lnSpc>
              <a:buNone/>
            </a:pPr>
            <a:r>
              <a:rPr lang="en-US" sz="1050" dirty="0">
                <a:solidFill>
                  <a:srgbClr val="ABA6D6"/>
                </a:solidFill>
                <a:latin typeface="Calibri" pitchFamily="34" charset="0"/>
                <a:ea typeface="Calibri" pitchFamily="34" charset="-122"/>
                <a:cs typeface="Calibri" pitchFamily="34" charset="-120"/>
              </a:rPr>
              <a:t>explain.py — rule / fact trace saved as JSON for every decision</a:t>
            </a:r>
            <a:endParaRPr lang="en-US" sz="1050" dirty="0"/>
          </a:p>
        </p:txBody>
      </p:sp>
      <p:sp>
        <p:nvSpPr>
          <p:cNvPr id="37" name="Text 35"/>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7 · IMPLEMENTATION · MODULES</a:t>
            </a:r>
            <a:endParaRPr lang="en-US" sz="900" dirty="0"/>
          </a:p>
        </p:txBody>
      </p:sp>
      <p:sp>
        <p:nvSpPr>
          <p:cNvPr id="38" name="Text 36"/>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39" name="Text 37"/>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7 · IMPLEMENTATION</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Hardware &amp; Software Specification</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45920"/>
            <a:ext cx="5522976" cy="4434840"/>
          </a:xfrm>
          <a:prstGeom prst="roundRect">
            <a:avLst>
              <a:gd name="adj" fmla="val 1649"/>
            </a:avLst>
          </a:prstGeom>
          <a:solidFill>
            <a:srgbClr val="16163A"/>
          </a:solidFill>
          <a:ln/>
          <a:effectLst>
            <a:outerShdw sx="100000" sy="100000" kx="0" ky="0" algn="bl" rotWithShape="0" blurRad="101600" dist="38100" dir="5400000">
              <a:srgbClr val="000000">
                <a:alpha val="35000"/>
              </a:srgbClr>
            </a:outerShdw>
          </a:effectLst>
        </p:spPr>
      </p:sp>
      <p:sp>
        <p:nvSpPr>
          <p:cNvPr id="8" name="Shape 6"/>
          <p:cNvSpPr/>
          <p:nvPr/>
        </p:nvSpPr>
        <p:spPr>
          <a:xfrm>
            <a:off x="457200" y="1645920"/>
            <a:ext cx="5522976" cy="73152"/>
          </a:xfrm>
          <a:prstGeom prst="rect">
            <a:avLst/>
          </a:prstGeom>
          <a:solidFill>
            <a:srgbClr val="7B2FF7"/>
          </a:solidFill>
          <a:ln/>
        </p:spPr>
      </p:sp>
      <p:sp>
        <p:nvSpPr>
          <p:cNvPr id="9" name="Text 7"/>
          <p:cNvSpPr txBox="1"/>
          <p:nvPr/>
        </p:nvSpPr>
        <p:spPr>
          <a:xfrm>
            <a:off x="777240" y="1901952"/>
            <a:ext cx="4882896" cy="457200"/>
          </a:xfrm>
          <a:prstGeom prst="rect">
            <a:avLst/>
          </a:prstGeom>
          <a:noFill/>
          <a:ln/>
        </p:spPr>
        <p:txBody>
          <a:bodyPr wrap="square" lIns="0" tIns="0" rIns="0" bIns="0" rtlCol="0" anchor="ctr"/>
          <a:lstStyle/>
          <a:p>
            <a:pPr indent="0" marL="0">
              <a:buNone/>
            </a:pPr>
            <a:r>
              <a:rPr lang="en-US" sz="1800" b="1" dirty="0">
                <a:solidFill>
                  <a:srgbClr val="F3F1FF"/>
                </a:solidFill>
                <a:latin typeface="Arial" pitchFamily="34" charset="0"/>
                <a:ea typeface="Arial" pitchFamily="34" charset="-122"/>
                <a:cs typeface="Arial" pitchFamily="34" charset="-120"/>
              </a:rPr>
              <a:t>Software Requirements</a:t>
            </a:r>
            <a:endParaRPr lang="en-US" sz="1800" dirty="0"/>
          </a:p>
        </p:txBody>
      </p:sp>
      <p:sp>
        <p:nvSpPr>
          <p:cNvPr id="10" name="Text 8"/>
          <p:cNvSpPr txBox="1"/>
          <p:nvPr/>
        </p:nvSpPr>
        <p:spPr>
          <a:xfrm>
            <a:off x="777240" y="2560320"/>
            <a:ext cx="4882896" cy="256032"/>
          </a:xfrm>
          <a:prstGeom prst="rect">
            <a:avLst/>
          </a:prstGeom>
          <a:noFill/>
          <a:ln/>
        </p:spPr>
        <p:txBody>
          <a:bodyPr wrap="square" lIns="0" tIns="0" rIns="0" bIns="0" rtlCol="0" anchor="ctr"/>
          <a:lstStyle/>
          <a:p>
            <a:pPr indent="0" marL="0">
              <a:buNone/>
            </a:pPr>
            <a:r>
              <a:rPr lang="en-US" sz="1000" b="1" spc="150" kern="0" dirty="0">
                <a:solidFill>
                  <a:srgbClr val="7B2FF7"/>
                </a:solidFill>
                <a:latin typeface="Calibri" pitchFamily="34" charset="0"/>
                <a:ea typeface="Calibri" pitchFamily="34" charset="-122"/>
                <a:cs typeface="Calibri" pitchFamily="34" charset="-120"/>
              </a:rPr>
              <a:t>LANGUAGE</a:t>
            </a:r>
            <a:endParaRPr lang="en-US" sz="1000" dirty="0"/>
          </a:p>
        </p:txBody>
      </p:sp>
      <p:sp>
        <p:nvSpPr>
          <p:cNvPr id="11" name="Text 9"/>
          <p:cNvSpPr txBox="1"/>
          <p:nvPr/>
        </p:nvSpPr>
        <p:spPr>
          <a:xfrm>
            <a:off x="777240" y="2807208"/>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Python 3.9 or newer</a:t>
            </a:r>
            <a:endParaRPr lang="en-US" sz="1300" dirty="0"/>
          </a:p>
        </p:txBody>
      </p:sp>
      <p:sp>
        <p:nvSpPr>
          <p:cNvPr id="12" name="Text 10"/>
          <p:cNvSpPr txBox="1"/>
          <p:nvPr/>
        </p:nvSpPr>
        <p:spPr>
          <a:xfrm>
            <a:off x="777240" y="3255264"/>
            <a:ext cx="4882896" cy="256032"/>
          </a:xfrm>
          <a:prstGeom prst="rect">
            <a:avLst/>
          </a:prstGeom>
          <a:noFill/>
          <a:ln/>
        </p:spPr>
        <p:txBody>
          <a:bodyPr wrap="square" lIns="0" tIns="0" rIns="0" bIns="0" rtlCol="0" anchor="ctr"/>
          <a:lstStyle/>
          <a:p>
            <a:pPr indent="0" marL="0">
              <a:buNone/>
            </a:pPr>
            <a:r>
              <a:rPr lang="en-US" sz="1000" b="1" spc="150" kern="0" dirty="0">
                <a:solidFill>
                  <a:srgbClr val="7B2FF7"/>
                </a:solidFill>
                <a:latin typeface="Calibri" pitchFamily="34" charset="0"/>
                <a:ea typeface="Calibri" pitchFamily="34" charset="-122"/>
                <a:cs typeface="Calibri" pitchFamily="34" charset="-120"/>
              </a:rPr>
              <a:t>LIBRARIES</a:t>
            </a:r>
            <a:endParaRPr lang="en-US" sz="1000" dirty="0"/>
          </a:p>
        </p:txBody>
      </p:sp>
      <p:sp>
        <p:nvSpPr>
          <p:cNvPr id="13" name="Text 11"/>
          <p:cNvSpPr txBox="1"/>
          <p:nvPr/>
        </p:nvSpPr>
        <p:spPr>
          <a:xfrm>
            <a:off x="777240" y="3502152"/>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Standard library only (heapq, dataclasses, json, argparse)</a:t>
            </a:r>
            <a:endParaRPr lang="en-US" sz="1300" dirty="0"/>
          </a:p>
        </p:txBody>
      </p:sp>
      <p:sp>
        <p:nvSpPr>
          <p:cNvPr id="14" name="Text 12"/>
          <p:cNvSpPr txBox="1"/>
          <p:nvPr/>
        </p:nvSpPr>
        <p:spPr>
          <a:xfrm>
            <a:off x="777240" y="3950208"/>
            <a:ext cx="4882896" cy="256032"/>
          </a:xfrm>
          <a:prstGeom prst="rect">
            <a:avLst/>
          </a:prstGeom>
          <a:noFill/>
          <a:ln/>
        </p:spPr>
        <p:txBody>
          <a:bodyPr wrap="square" lIns="0" tIns="0" rIns="0" bIns="0" rtlCol="0" anchor="ctr"/>
          <a:lstStyle/>
          <a:p>
            <a:pPr indent="0" marL="0">
              <a:buNone/>
            </a:pPr>
            <a:r>
              <a:rPr lang="en-US" sz="1000" b="1" spc="150" kern="0" dirty="0">
                <a:solidFill>
                  <a:srgbClr val="7B2FF7"/>
                </a:solidFill>
                <a:latin typeface="Calibri" pitchFamily="34" charset="0"/>
                <a:ea typeface="Calibri" pitchFamily="34" charset="-122"/>
                <a:cs typeface="Calibri" pitchFamily="34" charset="-120"/>
              </a:rPr>
              <a:t>IDE / EDITOR</a:t>
            </a:r>
            <a:endParaRPr lang="en-US" sz="1000" dirty="0"/>
          </a:p>
        </p:txBody>
      </p:sp>
      <p:sp>
        <p:nvSpPr>
          <p:cNvPr id="15" name="Text 13"/>
          <p:cNvSpPr txBox="1"/>
          <p:nvPr/>
        </p:nvSpPr>
        <p:spPr>
          <a:xfrm>
            <a:off x="777240" y="4197096"/>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Visual Studio Code + Python extension</a:t>
            </a:r>
            <a:endParaRPr lang="en-US" sz="1300" dirty="0"/>
          </a:p>
        </p:txBody>
      </p:sp>
      <p:sp>
        <p:nvSpPr>
          <p:cNvPr id="16" name="Text 14"/>
          <p:cNvSpPr txBox="1"/>
          <p:nvPr/>
        </p:nvSpPr>
        <p:spPr>
          <a:xfrm>
            <a:off x="777240" y="4645152"/>
            <a:ext cx="4882896" cy="256032"/>
          </a:xfrm>
          <a:prstGeom prst="rect">
            <a:avLst/>
          </a:prstGeom>
          <a:noFill/>
          <a:ln/>
        </p:spPr>
        <p:txBody>
          <a:bodyPr wrap="square" lIns="0" tIns="0" rIns="0" bIns="0" rtlCol="0" anchor="ctr"/>
          <a:lstStyle/>
          <a:p>
            <a:pPr indent="0" marL="0">
              <a:buNone/>
            </a:pPr>
            <a:r>
              <a:rPr lang="en-US" sz="1000" b="1" spc="150" kern="0" dirty="0">
                <a:solidFill>
                  <a:srgbClr val="7B2FF7"/>
                </a:solidFill>
                <a:latin typeface="Calibri" pitchFamily="34" charset="0"/>
                <a:ea typeface="Calibri" pitchFamily="34" charset="-122"/>
                <a:cs typeface="Calibri" pitchFamily="34" charset="-120"/>
              </a:rPr>
              <a:t>OPERATING SYSTEM</a:t>
            </a:r>
            <a:endParaRPr lang="en-US" sz="1000" dirty="0"/>
          </a:p>
        </p:txBody>
      </p:sp>
      <p:sp>
        <p:nvSpPr>
          <p:cNvPr id="17" name="Text 15"/>
          <p:cNvSpPr txBox="1"/>
          <p:nvPr/>
        </p:nvSpPr>
        <p:spPr>
          <a:xfrm>
            <a:off x="777240" y="4892040"/>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Windows 10/11, macOS or Linux</a:t>
            </a:r>
            <a:endParaRPr lang="en-US" sz="1300" dirty="0"/>
          </a:p>
        </p:txBody>
      </p:sp>
      <p:sp>
        <p:nvSpPr>
          <p:cNvPr id="18" name="Text 16"/>
          <p:cNvSpPr txBox="1"/>
          <p:nvPr/>
        </p:nvSpPr>
        <p:spPr>
          <a:xfrm>
            <a:off x="777240" y="5340096"/>
            <a:ext cx="4882896" cy="256032"/>
          </a:xfrm>
          <a:prstGeom prst="rect">
            <a:avLst/>
          </a:prstGeom>
          <a:noFill/>
          <a:ln/>
        </p:spPr>
        <p:txBody>
          <a:bodyPr wrap="square" lIns="0" tIns="0" rIns="0" bIns="0" rtlCol="0" anchor="ctr"/>
          <a:lstStyle/>
          <a:p>
            <a:pPr indent="0" marL="0">
              <a:buNone/>
            </a:pPr>
            <a:r>
              <a:rPr lang="en-US" sz="1000" b="1" spc="150" kern="0" dirty="0">
                <a:solidFill>
                  <a:srgbClr val="7B2FF7"/>
                </a:solidFill>
                <a:latin typeface="Calibri" pitchFamily="34" charset="0"/>
                <a:ea typeface="Calibri" pitchFamily="34" charset="-122"/>
                <a:cs typeface="Calibri" pitchFamily="34" charset="-120"/>
              </a:rPr>
              <a:t>OUTPUT</a:t>
            </a:r>
            <a:endParaRPr lang="en-US" sz="1000" dirty="0"/>
          </a:p>
        </p:txBody>
      </p:sp>
      <p:sp>
        <p:nvSpPr>
          <p:cNvPr id="19" name="Text 17"/>
          <p:cNvSpPr txBox="1"/>
          <p:nvPr/>
        </p:nvSpPr>
        <p:spPr>
          <a:xfrm>
            <a:off x="777240" y="5586984"/>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Terminal grid, JSON explanation log, CSV results</a:t>
            </a:r>
            <a:endParaRPr lang="en-US" sz="1300" dirty="0"/>
          </a:p>
        </p:txBody>
      </p:sp>
      <p:sp>
        <p:nvSpPr>
          <p:cNvPr id="20" name="Shape 18"/>
          <p:cNvSpPr/>
          <p:nvPr/>
        </p:nvSpPr>
        <p:spPr>
          <a:xfrm>
            <a:off x="6208776" y="1645920"/>
            <a:ext cx="5522976" cy="4434840"/>
          </a:xfrm>
          <a:prstGeom prst="roundRect">
            <a:avLst>
              <a:gd name="adj" fmla="val 1649"/>
            </a:avLst>
          </a:prstGeom>
          <a:solidFill>
            <a:srgbClr val="16163A"/>
          </a:solidFill>
          <a:ln/>
          <a:effectLst>
            <a:outerShdw sx="100000" sy="100000" kx="0" ky="0" algn="bl" rotWithShape="0" blurRad="101600" dist="38100" dir="5400000">
              <a:srgbClr val="000000">
                <a:alpha val="35000"/>
              </a:srgbClr>
            </a:outerShdw>
          </a:effectLst>
        </p:spPr>
      </p:sp>
      <p:sp>
        <p:nvSpPr>
          <p:cNvPr id="21" name="Shape 19"/>
          <p:cNvSpPr/>
          <p:nvPr/>
        </p:nvSpPr>
        <p:spPr>
          <a:xfrm>
            <a:off x="6208776" y="1645920"/>
            <a:ext cx="5522976" cy="73152"/>
          </a:xfrm>
          <a:prstGeom prst="rect">
            <a:avLst/>
          </a:prstGeom>
          <a:solidFill>
            <a:srgbClr val="00E5FF"/>
          </a:solidFill>
          <a:ln/>
        </p:spPr>
      </p:sp>
      <p:sp>
        <p:nvSpPr>
          <p:cNvPr id="22" name="Text 20"/>
          <p:cNvSpPr txBox="1"/>
          <p:nvPr/>
        </p:nvSpPr>
        <p:spPr>
          <a:xfrm>
            <a:off x="6528816" y="1901952"/>
            <a:ext cx="4882896" cy="457200"/>
          </a:xfrm>
          <a:prstGeom prst="rect">
            <a:avLst/>
          </a:prstGeom>
          <a:noFill/>
          <a:ln/>
        </p:spPr>
        <p:txBody>
          <a:bodyPr wrap="square" lIns="0" tIns="0" rIns="0" bIns="0" rtlCol="0" anchor="ctr"/>
          <a:lstStyle/>
          <a:p>
            <a:pPr indent="0" marL="0">
              <a:buNone/>
            </a:pPr>
            <a:r>
              <a:rPr lang="en-US" sz="1800" b="1" dirty="0">
                <a:solidFill>
                  <a:srgbClr val="F3F1FF"/>
                </a:solidFill>
                <a:latin typeface="Arial" pitchFamily="34" charset="0"/>
                <a:ea typeface="Arial" pitchFamily="34" charset="-122"/>
                <a:cs typeface="Arial" pitchFamily="34" charset="-120"/>
              </a:rPr>
              <a:t>Hardware Requirements</a:t>
            </a:r>
            <a:endParaRPr lang="en-US" sz="1800" dirty="0"/>
          </a:p>
        </p:txBody>
      </p:sp>
      <p:sp>
        <p:nvSpPr>
          <p:cNvPr id="23" name="Text 21"/>
          <p:cNvSpPr txBox="1"/>
          <p:nvPr/>
        </p:nvSpPr>
        <p:spPr>
          <a:xfrm>
            <a:off x="6528816" y="2560320"/>
            <a:ext cx="4882896" cy="256032"/>
          </a:xfrm>
          <a:prstGeom prst="rect">
            <a:avLst/>
          </a:prstGeom>
          <a:noFill/>
          <a:ln/>
        </p:spPr>
        <p:txBody>
          <a:bodyPr wrap="square" lIns="0" tIns="0" rIns="0" bIns="0" rtlCol="0" anchor="ctr"/>
          <a:lstStyle/>
          <a:p>
            <a:pPr indent="0" marL="0">
              <a:buNone/>
            </a:pPr>
            <a:r>
              <a:rPr lang="en-US" sz="1000" b="1" spc="150" kern="0" dirty="0">
                <a:solidFill>
                  <a:srgbClr val="00E5FF"/>
                </a:solidFill>
                <a:latin typeface="Calibri" pitchFamily="34" charset="0"/>
                <a:ea typeface="Calibri" pitchFamily="34" charset="-122"/>
                <a:cs typeface="Calibri" pitchFamily="34" charset="-120"/>
              </a:rPr>
              <a:t>PROCESSOR</a:t>
            </a:r>
            <a:endParaRPr lang="en-US" sz="1000" dirty="0"/>
          </a:p>
        </p:txBody>
      </p:sp>
      <p:sp>
        <p:nvSpPr>
          <p:cNvPr id="24" name="Text 22"/>
          <p:cNvSpPr txBox="1"/>
          <p:nvPr/>
        </p:nvSpPr>
        <p:spPr>
          <a:xfrm>
            <a:off x="6528816" y="2807208"/>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Any dual-core CPU (1.6 GHz or above)</a:t>
            </a:r>
            <a:endParaRPr lang="en-US" sz="1300" dirty="0"/>
          </a:p>
        </p:txBody>
      </p:sp>
      <p:sp>
        <p:nvSpPr>
          <p:cNvPr id="25" name="Text 23"/>
          <p:cNvSpPr txBox="1"/>
          <p:nvPr/>
        </p:nvSpPr>
        <p:spPr>
          <a:xfrm>
            <a:off x="6528816" y="3255264"/>
            <a:ext cx="4882896" cy="256032"/>
          </a:xfrm>
          <a:prstGeom prst="rect">
            <a:avLst/>
          </a:prstGeom>
          <a:noFill/>
          <a:ln/>
        </p:spPr>
        <p:txBody>
          <a:bodyPr wrap="square" lIns="0" tIns="0" rIns="0" bIns="0" rtlCol="0" anchor="ctr"/>
          <a:lstStyle/>
          <a:p>
            <a:pPr indent="0" marL="0">
              <a:buNone/>
            </a:pPr>
            <a:r>
              <a:rPr lang="en-US" sz="1000" b="1" spc="150" kern="0" dirty="0">
                <a:solidFill>
                  <a:srgbClr val="00E5FF"/>
                </a:solidFill>
                <a:latin typeface="Calibri" pitchFamily="34" charset="0"/>
                <a:ea typeface="Calibri" pitchFamily="34" charset="-122"/>
                <a:cs typeface="Calibri" pitchFamily="34" charset="-120"/>
              </a:rPr>
              <a:t>MEMORY</a:t>
            </a:r>
            <a:endParaRPr lang="en-US" sz="1000" dirty="0"/>
          </a:p>
        </p:txBody>
      </p:sp>
      <p:sp>
        <p:nvSpPr>
          <p:cNvPr id="26" name="Text 24"/>
          <p:cNvSpPr txBox="1"/>
          <p:nvPr/>
        </p:nvSpPr>
        <p:spPr>
          <a:xfrm>
            <a:off x="6528816" y="3502152"/>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4 GB RAM minimum</a:t>
            </a:r>
            <a:endParaRPr lang="en-US" sz="1300" dirty="0"/>
          </a:p>
        </p:txBody>
      </p:sp>
      <p:sp>
        <p:nvSpPr>
          <p:cNvPr id="27" name="Text 25"/>
          <p:cNvSpPr txBox="1"/>
          <p:nvPr/>
        </p:nvSpPr>
        <p:spPr>
          <a:xfrm>
            <a:off x="6528816" y="3950208"/>
            <a:ext cx="4882896" cy="256032"/>
          </a:xfrm>
          <a:prstGeom prst="rect">
            <a:avLst/>
          </a:prstGeom>
          <a:noFill/>
          <a:ln/>
        </p:spPr>
        <p:txBody>
          <a:bodyPr wrap="square" lIns="0" tIns="0" rIns="0" bIns="0" rtlCol="0" anchor="ctr"/>
          <a:lstStyle/>
          <a:p>
            <a:pPr indent="0" marL="0">
              <a:buNone/>
            </a:pPr>
            <a:r>
              <a:rPr lang="en-US" sz="1000" b="1" spc="150" kern="0" dirty="0">
                <a:solidFill>
                  <a:srgbClr val="00E5FF"/>
                </a:solidFill>
                <a:latin typeface="Calibri" pitchFamily="34" charset="0"/>
                <a:ea typeface="Calibri" pitchFamily="34" charset="-122"/>
                <a:cs typeface="Calibri" pitchFamily="34" charset="-120"/>
              </a:rPr>
              <a:t>STORAGE</a:t>
            </a:r>
            <a:endParaRPr lang="en-US" sz="1000" dirty="0"/>
          </a:p>
        </p:txBody>
      </p:sp>
      <p:sp>
        <p:nvSpPr>
          <p:cNvPr id="28" name="Text 26"/>
          <p:cNvSpPr txBox="1"/>
          <p:nvPr/>
        </p:nvSpPr>
        <p:spPr>
          <a:xfrm>
            <a:off x="6528816" y="4197096"/>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Under 50 MB free disk space</a:t>
            </a:r>
            <a:endParaRPr lang="en-US" sz="1300" dirty="0"/>
          </a:p>
        </p:txBody>
      </p:sp>
      <p:sp>
        <p:nvSpPr>
          <p:cNvPr id="29" name="Text 27"/>
          <p:cNvSpPr txBox="1"/>
          <p:nvPr/>
        </p:nvSpPr>
        <p:spPr>
          <a:xfrm>
            <a:off x="6528816" y="4645152"/>
            <a:ext cx="4882896" cy="256032"/>
          </a:xfrm>
          <a:prstGeom prst="rect">
            <a:avLst/>
          </a:prstGeom>
          <a:noFill/>
          <a:ln/>
        </p:spPr>
        <p:txBody>
          <a:bodyPr wrap="square" lIns="0" tIns="0" rIns="0" bIns="0" rtlCol="0" anchor="ctr"/>
          <a:lstStyle/>
          <a:p>
            <a:pPr indent="0" marL="0">
              <a:buNone/>
            </a:pPr>
            <a:r>
              <a:rPr lang="en-US" sz="1000" b="1" spc="150" kern="0" dirty="0">
                <a:solidFill>
                  <a:srgbClr val="00E5FF"/>
                </a:solidFill>
                <a:latin typeface="Calibri" pitchFamily="34" charset="0"/>
                <a:ea typeface="Calibri" pitchFamily="34" charset="-122"/>
                <a:cs typeface="Calibri" pitchFamily="34" charset="-120"/>
              </a:rPr>
              <a:t>GRAPHICS</a:t>
            </a:r>
            <a:endParaRPr lang="en-US" sz="1000" dirty="0"/>
          </a:p>
        </p:txBody>
      </p:sp>
      <p:sp>
        <p:nvSpPr>
          <p:cNvPr id="30" name="Text 28"/>
          <p:cNvSpPr txBox="1"/>
          <p:nvPr/>
        </p:nvSpPr>
        <p:spPr>
          <a:xfrm>
            <a:off x="6528816" y="4892040"/>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No GPU needed — symbolic reasoning only</a:t>
            </a:r>
            <a:endParaRPr lang="en-US" sz="1300" dirty="0"/>
          </a:p>
        </p:txBody>
      </p:sp>
      <p:sp>
        <p:nvSpPr>
          <p:cNvPr id="31" name="Text 29"/>
          <p:cNvSpPr txBox="1"/>
          <p:nvPr/>
        </p:nvSpPr>
        <p:spPr>
          <a:xfrm>
            <a:off x="6528816" y="5340096"/>
            <a:ext cx="4882896" cy="256032"/>
          </a:xfrm>
          <a:prstGeom prst="rect">
            <a:avLst/>
          </a:prstGeom>
          <a:noFill/>
          <a:ln/>
        </p:spPr>
        <p:txBody>
          <a:bodyPr wrap="square" lIns="0" tIns="0" rIns="0" bIns="0" rtlCol="0" anchor="ctr"/>
          <a:lstStyle/>
          <a:p>
            <a:pPr indent="0" marL="0">
              <a:buNone/>
            </a:pPr>
            <a:r>
              <a:rPr lang="en-US" sz="1000" b="1" spc="150" kern="0" dirty="0">
                <a:solidFill>
                  <a:srgbClr val="00E5FF"/>
                </a:solidFill>
                <a:latin typeface="Calibri" pitchFamily="34" charset="0"/>
                <a:ea typeface="Calibri" pitchFamily="34" charset="-122"/>
                <a:cs typeface="Calibri" pitchFamily="34" charset="-120"/>
              </a:rPr>
              <a:t>DISPLAY</a:t>
            </a:r>
            <a:endParaRPr lang="en-US" sz="1000" dirty="0"/>
          </a:p>
        </p:txBody>
      </p:sp>
      <p:sp>
        <p:nvSpPr>
          <p:cNvPr id="32" name="Text 30"/>
          <p:cNvSpPr txBox="1"/>
          <p:nvPr/>
        </p:nvSpPr>
        <p:spPr>
          <a:xfrm>
            <a:off x="6528816" y="5586984"/>
            <a:ext cx="4882896" cy="329184"/>
          </a:xfrm>
          <a:prstGeom prst="rect">
            <a:avLst/>
          </a:prstGeom>
          <a:noFill/>
          <a:ln/>
        </p:spPr>
        <p:txBody>
          <a:bodyPr wrap="square" lIns="0" tIns="0" rIns="0" bIns="0" rtlCol="0" anchor="ctr"/>
          <a:lstStyle/>
          <a:p>
            <a:pPr indent="0" marL="0">
              <a:buNone/>
            </a:pPr>
            <a:r>
              <a:rPr lang="en-US" sz="1300" dirty="0">
                <a:solidFill>
                  <a:srgbClr val="F3F1FF"/>
                </a:solidFill>
                <a:latin typeface="Calibri" pitchFamily="34" charset="0"/>
                <a:ea typeface="Calibri" pitchFamily="34" charset="-122"/>
                <a:cs typeface="Calibri" pitchFamily="34" charset="-120"/>
              </a:rPr>
              <a:t>Standard monitor / laptop screen</a:t>
            </a:r>
            <a:endParaRPr lang="en-US" sz="1300" dirty="0"/>
          </a:p>
        </p:txBody>
      </p:sp>
      <p:sp>
        <p:nvSpPr>
          <p:cNvPr id="33" name="Text 31"/>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7 · IMPLEMENTATION · HARDWARE / SOFTWARE SPECIFICATION</a:t>
            </a:r>
            <a:endParaRPr lang="en-US" sz="900" dirty="0"/>
          </a:p>
        </p:txBody>
      </p:sp>
      <p:sp>
        <p:nvSpPr>
          <p:cNvPr id="34" name="Text 32"/>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35" name="Text 33"/>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8 · RESULT &amp; CONCLUSION</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Results: CyberDungeon vs. Scripted Baseline</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graphicFrame>
        <p:nvGraphicFramePr>
          <p:cNvPr id="7" name="Chart 0" descr=""/>
          <p:cNvGraphicFramePr/>
          <p:nvPr/>
        </p:nvGraphicFramePr>
        <p:xfrm>
          <a:off x="457200" y="164592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35240" y="1645920"/>
            <a:ext cx="4096512" cy="1261872"/>
          </a:xfrm>
          <a:prstGeom prst="roundRect">
            <a:avLst>
              <a:gd name="adj" fmla="val 5797"/>
            </a:avLst>
          </a:prstGeom>
          <a:solidFill>
            <a:srgbClr val="1D1D48"/>
          </a:solidFill>
          <a:ln/>
          <a:effectLst>
            <a:outerShdw sx="100000" sy="100000" kx="0" ky="0" algn="bl" rotWithShape="0" blurRad="101600" dist="38100" dir="5400000">
              <a:srgbClr val="000000">
                <a:alpha val="35000"/>
              </a:srgbClr>
            </a:outerShdw>
          </a:effectLst>
        </p:spPr>
      </p:sp>
      <p:sp>
        <p:nvSpPr>
          <p:cNvPr id="9" name="Text 6"/>
          <p:cNvSpPr txBox="1"/>
          <p:nvPr/>
        </p:nvSpPr>
        <p:spPr>
          <a:xfrm>
            <a:off x="7863840" y="1737360"/>
            <a:ext cx="3657600" cy="548640"/>
          </a:xfrm>
          <a:prstGeom prst="rect">
            <a:avLst/>
          </a:prstGeom>
          <a:noFill/>
          <a:ln/>
        </p:spPr>
        <p:txBody>
          <a:bodyPr wrap="square" lIns="0" tIns="0" rIns="0" bIns="0" rtlCol="0" anchor="ctr"/>
          <a:lstStyle/>
          <a:p>
            <a:pPr indent="0" marL="0">
              <a:buNone/>
            </a:pPr>
            <a:r>
              <a:rPr lang="en-US" sz="2400" b="1" dirty="0">
                <a:solidFill>
                  <a:srgbClr val="00E5FF"/>
                </a:solidFill>
                <a:latin typeface="Arial" pitchFamily="34" charset="0"/>
                <a:ea typeface="Arial" pitchFamily="34" charset="-122"/>
                <a:cs typeface="Arial" pitchFamily="34" charset="-120"/>
              </a:rPr>
              <a:t>4.7 vs 2.0</a:t>
            </a:r>
            <a:endParaRPr lang="en-US" sz="2400" dirty="0"/>
          </a:p>
        </p:txBody>
      </p:sp>
      <p:sp>
        <p:nvSpPr>
          <p:cNvPr id="10" name="Text 7"/>
          <p:cNvSpPr txBox="1"/>
          <p:nvPr/>
        </p:nvSpPr>
        <p:spPr>
          <a:xfrm>
            <a:off x="7863840" y="2304288"/>
            <a:ext cx="3657600" cy="548640"/>
          </a:xfrm>
          <a:prstGeom prst="rect">
            <a:avLst/>
          </a:prstGeom>
          <a:noFill/>
          <a:ln/>
        </p:spPr>
        <p:txBody>
          <a:bodyPr wrap="square" lIns="0" tIns="0" rIns="0" bIns="0" rtlCol="0" anchor="ctr"/>
          <a:lstStyle/>
          <a:p>
            <a:pPr indent="0" marL="0">
              <a:lnSpc>
                <a:spcPct val="110000"/>
              </a:lnSpc>
              <a:buNone/>
            </a:pPr>
            <a:r>
              <a:rPr lang="en-US" sz="1050" dirty="0">
                <a:solidFill>
                  <a:srgbClr val="ABA6D6"/>
                </a:solidFill>
                <a:latin typeface="Calibri" pitchFamily="34" charset="0"/>
                <a:ea typeface="Calibri" pitchFamily="34" charset="-122"/>
                <a:cs typeface="Calibri" pitchFamily="34" charset="-120"/>
              </a:rPr>
              <a:t>distinct tactics used per battle (Game Master vs scripted baseline)</a:t>
            </a:r>
            <a:endParaRPr lang="en-US" sz="1050" dirty="0"/>
          </a:p>
        </p:txBody>
      </p:sp>
      <p:sp>
        <p:nvSpPr>
          <p:cNvPr id="11" name="Shape 8"/>
          <p:cNvSpPr/>
          <p:nvPr/>
        </p:nvSpPr>
        <p:spPr>
          <a:xfrm>
            <a:off x="7635240" y="3090672"/>
            <a:ext cx="4096512" cy="1261872"/>
          </a:xfrm>
          <a:prstGeom prst="roundRect">
            <a:avLst>
              <a:gd name="adj" fmla="val 5797"/>
            </a:avLst>
          </a:prstGeom>
          <a:solidFill>
            <a:srgbClr val="1D1D48"/>
          </a:solidFill>
          <a:ln/>
          <a:effectLst>
            <a:outerShdw sx="100000" sy="100000" kx="0" ky="0" algn="bl" rotWithShape="0" blurRad="101600" dist="38100" dir="5400000">
              <a:srgbClr val="000000">
                <a:alpha val="35000"/>
              </a:srgbClr>
            </a:outerShdw>
          </a:effectLst>
        </p:spPr>
      </p:sp>
      <p:sp>
        <p:nvSpPr>
          <p:cNvPr id="12" name="Text 9"/>
          <p:cNvSpPr txBox="1"/>
          <p:nvPr/>
        </p:nvSpPr>
        <p:spPr>
          <a:xfrm>
            <a:off x="7863840" y="3182112"/>
            <a:ext cx="3657600" cy="548640"/>
          </a:xfrm>
          <a:prstGeom prst="rect">
            <a:avLst/>
          </a:prstGeom>
          <a:noFill/>
          <a:ln/>
        </p:spPr>
        <p:txBody>
          <a:bodyPr wrap="square" lIns="0" tIns="0" rIns="0" bIns="0" rtlCol="0" anchor="ctr"/>
          <a:lstStyle/>
          <a:p>
            <a:pPr indent="0" marL="0">
              <a:buNone/>
            </a:pPr>
            <a:r>
              <a:rPr lang="en-US" sz="2400" b="1" dirty="0">
                <a:solidFill>
                  <a:srgbClr val="00E5FF"/>
                </a:solidFill>
                <a:latin typeface="Arial" pitchFamily="34" charset="0"/>
                <a:ea typeface="Arial" pitchFamily="34" charset="-122"/>
                <a:cs typeface="Arial" pitchFamily="34" charset="-120"/>
              </a:rPr>
              <a:t>−45%</a:t>
            </a:r>
            <a:endParaRPr lang="en-US" sz="2400" dirty="0"/>
          </a:p>
        </p:txBody>
      </p:sp>
      <p:sp>
        <p:nvSpPr>
          <p:cNvPr id="13" name="Text 10"/>
          <p:cNvSpPr txBox="1"/>
          <p:nvPr/>
        </p:nvSpPr>
        <p:spPr>
          <a:xfrm>
            <a:off x="7863840" y="3749040"/>
            <a:ext cx="3657600" cy="548640"/>
          </a:xfrm>
          <a:prstGeom prst="rect">
            <a:avLst/>
          </a:prstGeom>
          <a:noFill/>
          <a:ln/>
        </p:spPr>
        <p:txBody>
          <a:bodyPr wrap="square" lIns="0" tIns="0" rIns="0" bIns="0" rtlCol="0" anchor="ctr"/>
          <a:lstStyle/>
          <a:p>
            <a:pPr indent="0" marL="0">
              <a:lnSpc>
                <a:spcPct val="110000"/>
              </a:lnSpc>
              <a:buNone/>
            </a:pPr>
            <a:r>
              <a:rPr lang="en-US" sz="1050" dirty="0">
                <a:solidFill>
                  <a:srgbClr val="ABA6D6"/>
                </a:solidFill>
                <a:latin typeface="Calibri" pitchFamily="34" charset="0"/>
                <a:ea typeface="Calibri" pitchFamily="34" charset="-122"/>
                <a:cs typeface="Calibri" pitchFamily="34" charset="-120"/>
              </a:rPr>
              <a:t>tactic repetition: 0.35 for the Game Master vs 0.64 for the baseline</a:t>
            </a:r>
            <a:endParaRPr lang="en-US" sz="1050" dirty="0"/>
          </a:p>
        </p:txBody>
      </p:sp>
      <p:sp>
        <p:nvSpPr>
          <p:cNvPr id="14" name="Shape 11"/>
          <p:cNvSpPr/>
          <p:nvPr/>
        </p:nvSpPr>
        <p:spPr>
          <a:xfrm>
            <a:off x="7635240" y="4535424"/>
            <a:ext cx="4096512" cy="1261872"/>
          </a:xfrm>
          <a:prstGeom prst="roundRect">
            <a:avLst>
              <a:gd name="adj" fmla="val 5797"/>
            </a:avLst>
          </a:prstGeom>
          <a:solidFill>
            <a:srgbClr val="1D1D48"/>
          </a:solidFill>
          <a:ln/>
          <a:effectLst>
            <a:outerShdw sx="100000" sy="100000" kx="0" ky="0" algn="bl" rotWithShape="0" blurRad="101600" dist="38100" dir="5400000">
              <a:srgbClr val="000000">
                <a:alpha val="35000"/>
              </a:srgbClr>
            </a:outerShdw>
          </a:effectLst>
        </p:spPr>
      </p:sp>
      <p:sp>
        <p:nvSpPr>
          <p:cNvPr id="15" name="Text 12"/>
          <p:cNvSpPr txBox="1"/>
          <p:nvPr/>
        </p:nvSpPr>
        <p:spPr>
          <a:xfrm>
            <a:off x="7863840" y="4626864"/>
            <a:ext cx="3657600" cy="548640"/>
          </a:xfrm>
          <a:prstGeom prst="rect">
            <a:avLst/>
          </a:prstGeom>
          <a:noFill/>
          <a:ln/>
        </p:spPr>
        <p:txBody>
          <a:bodyPr wrap="square" lIns="0" tIns="0" rIns="0" bIns="0" rtlCol="0" anchor="ctr"/>
          <a:lstStyle/>
          <a:p>
            <a:pPr indent="0" marL="0">
              <a:buNone/>
            </a:pPr>
            <a:r>
              <a:rPr lang="en-US" sz="2400" b="1" dirty="0">
                <a:solidFill>
                  <a:srgbClr val="00E5FF"/>
                </a:solidFill>
                <a:latin typeface="Arial" pitchFamily="34" charset="0"/>
                <a:ea typeface="Arial" pitchFamily="34" charset="-122"/>
                <a:cs typeface="Arial" pitchFamily="34" charset="-120"/>
              </a:rPr>
              <a:t>&lt; 10 ms</a:t>
            </a:r>
            <a:endParaRPr lang="en-US" sz="2400" dirty="0"/>
          </a:p>
        </p:txBody>
      </p:sp>
      <p:sp>
        <p:nvSpPr>
          <p:cNvPr id="16" name="Text 13"/>
          <p:cNvSpPr txBox="1"/>
          <p:nvPr/>
        </p:nvSpPr>
        <p:spPr>
          <a:xfrm>
            <a:off x="7863840" y="5193792"/>
            <a:ext cx="3657600" cy="548640"/>
          </a:xfrm>
          <a:prstGeom prst="rect">
            <a:avLst/>
          </a:prstGeom>
          <a:noFill/>
          <a:ln/>
        </p:spPr>
        <p:txBody>
          <a:bodyPr wrap="square" lIns="0" tIns="0" rIns="0" bIns="0" rtlCol="0" anchor="ctr"/>
          <a:lstStyle/>
          <a:p>
            <a:pPr indent="0" marL="0">
              <a:lnSpc>
                <a:spcPct val="110000"/>
              </a:lnSpc>
              <a:buNone/>
            </a:pPr>
            <a:r>
              <a:rPr lang="en-US" sz="1050" dirty="0">
                <a:solidFill>
                  <a:srgbClr val="ABA6D6"/>
                </a:solidFill>
                <a:latin typeface="Calibri" pitchFamily="34" charset="0"/>
                <a:ea typeface="Calibri" pitchFamily="34" charset="-122"/>
                <a:cs typeface="Calibri" pitchFamily="34" charset="-120"/>
              </a:rPr>
              <a:t>average Game-Master decision time per enemy phase — real-time capable</a:t>
            </a:r>
            <a:endParaRPr lang="en-US" sz="1050" dirty="0"/>
          </a:p>
        </p:txBody>
      </p:sp>
      <p:sp>
        <p:nvSpPr>
          <p:cNvPr id="17" name="Text 14"/>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8 · RESULT &amp; CONCLUSION</a:t>
            </a:r>
            <a:endParaRPr lang="en-US" sz="900" dirty="0"/>
          </a:p>
        </p:txBody>
      </p:sp>
      <p:sp>
        <p:nvSpPr>
          <p:cNvPr id="18" name="Text 15"/>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19" name="Text 16"/>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8 · RESULT &amp; CONCLUSION</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Conclusion</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91640"/>
            <a:ext cx="11274552" cy="2743200"/>
          </a:xfrm>
          <a:prstGeom prst="roundRect">
            <a:avLst>
              <a:gd name="adj" fmla="val 2667"/>
            </a:avLst>
          </a:prstGeom>
          <a:solidFill>
            <a:srgbClr val="16163A"/>
          </a:solidFill>
          <a:ln/>
          <a:effectLst>
            <a:outerShdw sx="100000" sy="100000" kx="0" ky="0" algn="bl" rotWithShape="0" blurRad="101600" dist="38100" dir="5400000">
              <a:srgbClr val="000000">
                <a:alpha val="35000"/>
              </a:srgbClr>
            </a:outerShdw>
          </a:effectLst>
        </p:spPr>
      </p:sp>
      <p:sp>
        <p:nvSpPr>
          <p:cNvPr id="8" name="Text 6"/>
          <p:cNvSpPr txBox="1"/>
          <p:nvPr/>
        </p:nvSpPr>
        <p:spPr>
          <a:xfrm>
            <a:off x="777240" y="1920240"/>
            <a:ext cx="10607040" cy="2331720"/>
          </a:xfrm>
          <a:prstGeom prst="rect">
            <a:avLst/>
          </a:prstGeom>
          <a:noFill/>
          <a:ln/>
        </p:spPr>
        <p:txBody>
          <a:bodyPr wrap="square" lIns="0" tIns="0" rIns="0" bIns="0" rtlCol="0" anchor="ctr"/>
          <a:lstStyle/>
          <a:p>
            <a:pPr indent="0" marL="0">
              <a:lnSpc>
                <a:spcPct val="130000"/>
              </a:lnSpc>
              <a:buNone/>
            </a:pPr>
            <a:r>
              <a:rPr lang="en-US" sz="1450" dirty="0">
                <a:solidFill>
                  <a:srgbClr val="F3F1FF"/>
                </a:solidFill>
                <a:latin typeface="Calibri" pitchFamily="34" charset="0"/>
                <a:ea typeface="Calibri" pitchFamily="34" charset="-122"/>
                <a:cs typeface="Calibri" pitchFamily="34" charset="-120"/>
              </a:rPr>
              <a:t>CyberDungeon demonstrates that a symbolic Game Master — combining a rule-based knowledge base with GOAP-style planning — can deliver tactical combat AI that is simultaneously adaptive and fully explainable. Against a static scripted baseline it used more than twice as many distinct tactics, repeated itself far less and kept win rates closer to an even match, while every decision stays auditable back to the fact and rule that produced it — closing the gap between rigid rule-based systems and opaque learned policies identified in the research gap.</a:t>
            </a:r>
            <a:endParaRPr lang="en-US" sz="1450" dirty="0"/>
          </a:p>
        </p:txBody>
      </p:sp>
      <p:sp>
        <p:nvSpPr>
          <p:cNvPr id="9" name="Shape 7"/>
          <p:cNvSpPr/>
          <p:nvPr/>
        </p:nvSpPr>
        <p:spPr>
          <a:xfrm>
            <a:off x="457200" y="4709160"/>
            <a:ext cx="1344168" cy="502920"/>
          </a:xfrm>
          <a:prstGeom prst="roundRect">
            <a:avLst>
              <a:gd name="adj" fmla="val 50909"/>
            </a:avLst>
          </a:prstGeom>
          <a:solidFill>
            <a:srgbClr val="1D1D48"/>
          </a:solidFill>
          <a:ln w="15875">
            <a:solidFill>
              <a:srgbClr val="7B2FF7"/>
            </a:solidFill>
            <a:prstDash val="solid"/>
          </a:ln>
        </p:spPr>
      </p:sp>
      <p:sp>
        <p:nvSpPr>
          <p:cNvPr id="10" name="Text 8"/>
          <p:cNvSpPr txBox="1"/>
          <p:nvPr/>
        </p:nvSpPr>
        <p:spPr>
          <a:xfrm>
            <a:off x="457200" y="4709160"/>
            <a:ext cx="1344168" cy="502920"/>
          </a:xfrm>
          <a:prstGeom prst="rect">
            <a:avLst/>
          </a:prstGeom>
          <a:noFill/>
          <a:ln/>
        </p:spPr>
        <p:txBody>
          <a:bodyPr wrap="square" lIns="0" tIns="0" rIns="0" bIns="0" rtlCol="0" anchor="ctr"/>
          <a:lstStyle/>
          <a:p>
            <a:pPr algn="ctr" indent="0" marL="0">
              <a:buNone/>
            </a:pPr>
            <a:r>
              <a:rPr lang="en-US" sz="1200" b="1" dirty="0">
                <a:solidFill>
                  <a:srgbClr val="00E5FF"/>
                </a:solidFill>
                <a:latin typeface="Calibri" pitchFamily="34" charset="0"/>
                <a:ea typeface="Calibri" pitchFamily="34" charset="-122"/>
                <a:cs typeface="Calibri" pitchFamily="34" charset="-120"/>
              </a:rPr>
              <a:t>Adaptive</a:t>
            </a:r>
            <a:endParaRPr lang="en-US" sz="1200" dirty="0"/>
          </a:p>
        </p:txBody>
      </p:sp>
      <p:sp>
        <p:nvSpPr>
          <p:cNvPr id="11" name="Shape 9"/>
          <p:cNvSpPr/>
          <p:nvPr/>
        </p:nvSpPr>
        <p:spPr>
          <a:xfrm>
            <a:off x="2029968" y="4709160"/>
            <a:ext cx="1659636" cy="502920"/>
          </a:xfrm>
          <a:prstGeom prst="roundRect">
            <a:avLst>
              <a:gd name="adj" fmla="val 50909"/>
            </a:avLst>
          </a:prstGeom>
          <a:solidFill>
            <a:srgbClr val="1D1D48"/>
          </a:solidFill>
          <a:ln w="15875">
            <a:solidFill>
              <a:srgbClr val="7B2FF7"/>
            </a:solidFill>
            <a:prstDash val="solid"/>
          </a:ln>
        </p:spPr>
      </p:sp>
      <p:sp>
        <p:nvSpPr>
          <p:cNvPr id="12" name="Text 10"/>
          <p:cNvSpPr txBox="1"/>
          <p:nvPr/>
        </p:nvSpPr>
        <p:spPr>
          <a:xfrm>
            <a:off x="2029968" y="4709160"/>
            <a:ext cx="1659636" cy="502920"/>
          </a:xfrm>
          <a:prstGeom prst="rect">
            <a:avLst/>
          </a:prstGeom>
          <a:noFill/>
          <a:ln/>
        </p:spPr>
        <p:txBody>
          <a:bodyPr wrap="square" lIns="0" tIns="0" rIns="0" bIns="0" rtlCol="0" anchor="ctr"/>
          <a:lstStyle/>
          <a:p>
            <a:pPr algn="ctr" indent="0" marL="0">
              <a:buNone/>
            </a:pPr>
            <a:r>
              <a:rPr lang="en-US" sz="1200" b="1" dirty="0">
                <a:solidFill>
                  <a:srgbClr val="00E5FF"/>
                </a:solidFill>
                <a:latin typeface="Calibri" pitchFamily="34" charset="0"/>
                <a:ea typeface="Calibri" pitchFamily="34" charset="-122"/>
                <a:cs typeface="Calibri" pitchFamily="34" charset="-120"/>
              </a:rPr>
              <a:t>Explainable</a:t>
            </a:r>
            <a:endParaRPr lang="en-US" sz="1200" dirty="0"/>
          </a:p>
        </p:txBody>
      </p:sp>
      <p:sp>
        <p:nvSpPr>
          <p:cNvPr id="13" name="Shape 11"/>
          <p:cNvSpPr/>
          <p:nvPr/>
        </p:nvSpPr>
        <p:spPr>
          <a:xfrm>
            <a:off x="3918204" y="4709160"/>
            <a:ext cx="2711196" cy="502920"/>
          </a:xfrm>
          <a:prstGeom prst="roundRect">
            <a:avLst>
              <a:gd name="adj" fmla="val 50909"/>
            </a:avLst>
          </a:prstGeom>
          <a:solidFill>
            <a:srgbClr val="1D1D48"/>
          </a:solidFill>
          <a:ln w="15875">
            <a:solidFill>
              <a:srgbClr val="7B2FF7"/>
            </a:solidFill>
            <a:prstDash val="solid"/>
          </a:ln>
        </p:spPr>
      </p:sp>
      <p:sp>
        <p:nvSpPr>
          <p:cNvPr id="14" name="Text 12"/>
          <p:cNvSpPr txBox="1"/>
          <p:nvPr/>
        </p:nvSpPr>
        <p:spPr>
          <a:xfrm>
            <a:off x="3918204" y="4709160"/>
            <a:ext cx="2711196" cy="502920"/>
          </a:xfrm>
          <a:prstGeom prst="rect">
            <a:avLst/>
          </a:prstGeom>
          <a:noFill/>
          <a:ln/>
        </p:spPr>
        <p:txBody>
          <a:bodyPr wrap="square" lIns="0" tIns="0" rIns="0" bIns="0" rtlCol="0" anchor="ctr"/>
          <a:lstStyle/>
          <a:p>
            <a:pPr algn="ctr" indent="0" marL="0">
              <a:buNone/>
            </a:pPr>
            <a:r>
              <a:rPr lang="en-US" sz="1200" b="1" dirty="0">
                <a:solidFill>
                  <a:srgbClr val="00E5FF"/>
                </a:solidFill>
                <a:latin typeface="Calibri" pitchFamily="34" charset="0"/>
                <a:ea typeface="Calibri" pitchFamily="34" charset="-122"/>
                <a:cs typeface="Calibri" pitchFamily="34" charset="-120"/>
              </a:rPr>
              <a:t>Designer-Controllable</a:t>
            </a:r>
            <a:endParaRPr lang="en-US" sz="1200" dirty="0"/>
          </a:p>
        </p:txBody>
      </p:sp>
      <p:sp>
        <p:nvSpPr>
          <p:cNvPr id="15" name="Shape 13"/>
          <p:cNvSpPr/>
          <p:nvPr/>
        </p:nvSpPr>
        <p:spPr>
          <a:xfrm>
            <a:off x="6858000" y="4709160"/>
            <a:ext cx="1449324" cy="502920"/>
          </a:xfrm>
          <a:prstGeom prst="roundRect">
            <a:avLst>
              <a:gd name="adj" fmla="val 50909"/>
            </a:avLst>
          </a:prstGeom>
          <a:solidFill>
            <a:srgbClr val="1D1D48"/>
          </a:solidFill>
          <a:ln w="15875">
            <a:solidFill>
              <a:srgbClr val="7B2FF7"/>
            </a:solidFill>
            <a:prstDash val="solid"/>
          </a:ln>
        </p:spPr>
      </p:sp>
      <p:sp>
        <p:nvSpPr>
          <p:cNvPr id="16" name="Text 14"/>
          <p:cNvSpPr txBox="1"/>
          <p:nvPr/>
        </p:nvSpPr>
        <p:spPr>
          <a:xfrm>
            <a:off x="6858000" y="4709160"/>
            <a:ext cx="1449324" cy="502920"/>
          </a:xfrm>
          <a:prstGeom prst="rect">
            <a:avLst/>
          </a:prstGeom>
          <a:noFill/>
          <a:ln/>
        </p:spPr>
        <p:txBody>
          <a:bodyPr wrap="square" lIns="0" tIns="0" rIns="0" bIns="0" rtlCol="0" anchor="ctr"/>
          <a:lstStyle/>
          <a:p>
            <a:pPr algn="ctr" indent="0" marL="0">
              <a:buNone/>
            </a:pPr>
            <a:r>
              <a:rPr lang="en-US" sz="1200" b="1" dirty="0">
                <a:solidFill>
                  <a:srgbClr val="00E5FF"/>
                </a:solidFill>
                <a:latin typeface="Calibri" pitchFamily="34" charset="0"/>
                <a:ea typeface="Calibri" pitchFamily="34" charset="-122"/>
                <a:cs typeface="Calibri" pitchFamily="34" charset="-120"/>
              </a:rPr>
              <a:t>Real-Time</a:t>
            </a:r>
            <a:endParaRPr lang="en-US" sz="1200" dirty="0"/>
          </a:p>
        </p:txBody>
      </p:sp>
      <p:sp>
        <p:nvSpPr>
          <p:cNvPr id="17" name="Text 15"/>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8 · RESULT &amp; CONCLUSION</a:t>
            </a:r>
            <a:endParaRPr lang="en-US" sz="900" dirty="0"/>
          </a:p>
        </p:txBody>
      </p:sp>
      <p:sp>
        <p:nvSpPr>
          <p:cNvPr id="18" name="Text 16"/>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19" name="Text 17"/>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457200" y="384048"/>
            <a:ext cx="384048" cy="384048"/>
          </a:xfrm>
          <a:prstGeom prst="hexagon">
            <a:avLst/>
          </a:prstGeom>
          <a:solidFill>
            <a:srgbClr val="7B2FF7"/>
          </a:solidFill>
          <a:ln/>
        </p:spPr>
      </p:sp>
      <p:sp>
        <p:nvSpPr>
          <p:cNvPr id="3" name="Text 1"/>
          <p:cNvSpPr txBox="1"/>
          <p:nvPr/>
        </p:nvSpPr>
        <p:spPr>
          <a:xfrm>
            <a:off x="457200" y="384048"/>
            <a:ext cx="384048" cy="384048"/>
          </a:xfrm>
          <a:prstGeom prst="rect">
            <a:avLst/>
          </a:prstGeom>
          <a:noFill/>
          <a:ln/>
        </p:spPr>
        <p:txBody>
          <a:bodyPr wrap="square" lIns="0" tIns="0" rIns="0" bIns="0" rtlCol="0" anchor="ctr"/>
          <a:lstStyle/>
          <a:p>
            <a:pPr algn="ctr" indent="0" marL="0">
              <a:buNone/>
            </a:pPr>
            <a:endParaRPr lang="en-US" sz="1092" dirty="0"/>
          </a:p>
        </p:txBody>
      </p:sp>
      <p:sp>
        <p:nvSpPr>
          <p:cNvPr id="4" name="Text 2"/>
          <p:cNvSpPr txBox="1"/>
          <p:nvPr/>
        </p:nvSpPr>
        <p:spPr>
          <a:xfrm>
            <a:off x="987552" y="347472"/>
            <a:ext cx="7315200" cy="274320"/>
          </a:xfrm>
          <a:prstGeom prst="rect">
            <a:avLst/>
          </a:prstGeom>
          <a:noFill/>
          <a:ln/>
        </p:spPr>
        <p:txBody>
          <a:bodyPr wrap="square" lIns="0" tIns="0" rIns="0" bIns="0" rtlCol="0" anchor="ctr"/>
          <a:lstStyle/>
          <a:p>
            <a:pPr indent="0" marL="0">
              <a:buNone/>
            </a:pPr>
            <a:r>
              <a:rPr lang="en-US" sz="1250" b="1" spc="200" kern="0" dirty="0">
                <a:solidFill>
                  <a:srgbClr val="00E5FF"/>
                </a:solidFill>
                <a:latin typeface="Calibri" pitchFamily="34" charset="0"/>
                <a:ea typeface="Calibri" pitchFamily="34" charset="-122"/>
                <a:cs typeface="Calibri" pitchFamily="34" charset="-120"/>
              </a:rPr>
              <a:t>9 · FUTURE ENHANCEMENT</a:t>
            </a:r>
            <a:endParaRPr lang="en-US" sz="1250" dirty="0"/>
          </a:p>
        </p:txBody>
      </p:sp>
      <p:sp>
        <p:nvSpPr>
          <p:cNvPr id="5" name="Text 3"/>
          <p:cNvSpPr txBox="1"/>
          <p:nvPr/>
        </p:nvSpPr>
        <p:spPr>
          <a:xfrm>
            <a:off x="457200" y="658368"/>
            <a:ext cx="10515600" cy="658368"/>
          </a:xfrm>
          <a:prstGeom prst="rect">
            <a:avLst/>
          </a:prstGeom>
          <a:noFill/>
          <a:ln/>
        </p:spPr>
        <p:txBody>
          <a:bodyPr wrap="square" lIns="0" tIns="0" rIns="0" bIns="0" rtlCol="0" anchor="ctr"/>
          <a:lstStyle/>
          <a:p>
            <a:pPr indent="0" marL="0">
              <a:buNone/>
            </a:pPr>
            <a:r>
              <a:rPr lang="en-US" sz="3000" b="1" dirty="0">
                <a:solidFill>
                  <a:srgbClr val="F3F1FF"/>
                </a:solidFill>
                <a:latin typeface="Arial" pitchFamily="34" charset="0"/>
                <a:ea typeface="Arial" pitchFamily="34" charset="-122"/>
                <a:cs typeface="Arial" pitchFamily="34" charset="-120"/>
              </a:rPr>
              <a:t>Where CyberDungeon Goes Next</a:t>
            </a:r>
            <a:endParaRPr lang="en-US" sz="3000" dirty="0"/>
          </a:p>
        </p:txBody>
      </p:sp>
      <p:sp>
        <p:nvSpPr>
          <p:cNvPr id="6" name="Shape 4"/>
          <p:cNvSpPr/>
          <p:nvPr/>
        </p:nvSpPr>
        <p:spPr>
          <a:xfrm>
            <a:off x="457200" y="1371600"/>
            <a:ext cx="11274552" cy="0"/>
          </a:xfrm>
          <a:prstGeom prst="line">
            <a:avLst/>
          </a:prstGeom>
          <a:noFill/>
          <a:ln w="15875">
            <a:solidFill>
              <a:srgbClr val="33335C"/>
            </a:solidFill>
            <a:prstDash val="solid"/>
          </a:ln>
        </p:spPr>
      </p:sp>
      <p:sp>
        <p:nvSpPr>
          <p:cNvPr id="7" name="Shape 5"/>
          <p:cNvSpPr/>
          <p:nvPr/>
        </p:nvSpPr>
        <p:spPr>
          <a:xfrm>
            <a:off x="457200" y="164592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8" name="Shape 6"/>
          <p:cNvSpPr/>
          <p:nvPr/>
        </p:nvSpPr>
        <p:spPr>
          <a:xfrm>
            <a:off x="685800" y="1874520"/>
            <a:ext cx="457200" cy="457200"/>
          </a:xfrm>
          <a:prstGeom prst="hexagon">
            <a:avLst/>
          </a:prstGeom>
          <a:solidFill>
            <a:srgbClr val="00E5FF"/>
          </a:solidFill>
          <a:ln/>
        </p:spPr>
      </p:sp>
      <p:sp>
        <p:nvSpPr>
          <p:cNvPr id="9" name="Text 7"/>
          <p:cNvSpPr txBox="1"/>
          <p:nvPr/>
        </p:nvSpPr>
        <p:spPr>
          <a:xfrm>
            <a:off x="685800" y="1874520"/>
            <a:ext cx="457200" cy="457200"/>
          </a:xfrm>
          <a:prstGeom prst="rect">
            <a:avLst/>
          </a:prstGeom>
          <a:noFill/>
          <a:ln/>
        </p:spPr>
        <p:txBody>
          <a:bodyPr wrap="square" lIns="0" tIns="0" rIns="0" bIns="0" rtlCol="0" anchor="ctr"/>
          <a:lstStyle/>
          <a:p>
            <a:pPr algn="ctr" indent="0" marL="0">
              <a:buNone/>
            </a:pPr>
            <a:r>
              <a:rPr lang="en-US" sz="1300" b="1" dirty="0">
                <a:solidFill>
                  <a:srgbClr val="0B0B1E"/>
                </a:solidFill>
                <a:latin typeface="Arial" pitchFamily="34" charset="0"/>
                <a:ea typeface="Arial" pitchFamily="34" charset="-122"/>
                <a:cs typeface="Arial" pitchFamily="34" charset="-120"/>
              </a:rPr>
              <a:t>+</a:t>
            </a:r>
            <a:endParaRPr lang="en-US" sz="1300" dirty="0"/>
          </a:p>
        </p:txBody>
      </p:sp>
      <p:sp>
        <p:nvSpPr>
          <p:cNvPr id="10" name="Text 8"/>
          <p:cNvSpPr txBox="1"/>
          <p:nvPr/>
        </p:nvSpPr>
        <p:spPr>
          <a:xfrm>
            <a:off x="685800" y="2514600"/>
            <a:ext cx="3154680" cy="411480"/>
          </a:xfrm>
          <a:prstGeom prst="rect">
            <a:avLst/>
          </a:prstGeom>
          <a:noFill/>
          <a:ln/>
        </p:spPr>
        <p:txBody>
          <a:bodyPr wrap="square" lIns="0" tIns="0" rIns="0" bIns="0" rtlCol="0" anchor="ctr"/>
          <a:lstStyle/>
          <a:p>
            <a:pPr indent="0" marL="0">
              <a:buNone/>
            </a:pPr>
            <a:r>
              <a:rPr lang="en-US" sz="1300" b="1" dirty="0">
                <a:solidFill>
                  <a:srgbClr val="F3F1FF"/>
                </a:solidFill>
                <a:latin typeface="Arial" pitchFamily="34" charset="0"/>
                <a:ea typeface="Arial" pitchFamily="34" charset="-122"/>
                <a:cs typeface="Arial" pitchFamily="34" charset="-120"/>
              </a:rPr>
              <a:t>Neuro-Symbolic Hybrid</a:t>
            </a:r>
            <a:endParaRPr lang="en-US" sz="1300" dirty="0"/>
          </a:p>
        </p:txBody>
      </p:sp>
      <p:sp>
        <p:nvSpPr>
          <p:cNvPr id="11" name="Text 9"/>
          <p:cNvSpPr txBox="1"/>
          <p:nvPr/>
        </p:nvSpPr>
        <p:spPr>
          <a:xfrm>
            <a:off x="685800" y="2907792"/>
            <a:ext cx="3154680" cy="521208"/>
          </a:xfrm>
          <a:prstGeom prst="rect">
            <a:avLst/>
          </a:prstGeom>
          <a:noFill/>
          <a:ln/>
        </p:spPr>
        <p:txBody>
          <a:bodyPr wrap="square" lIns="0" tIns="0" rIns="0" bIns="0" rtlCol="0" anchor="ctr"/>
          <a:lstStyle/>
          <a:p>
            <a:pPr indent="0" marL="0">
              <a:lnSpc>
                <a:spcPct val="112000"/>
              </a:lnSpc>
              <a:buNone/>
            </a:pPr>
            <a:r>
              <a:rPr lang="en-US" sz="1000" dirty="0">
                <a:solidFill>
                  <a:srgbClr val="ABA6D6"/>
                </a:solidFill>
                <a:latin typeface="Calibri" pitchFamily="34" charset="0"/>
                <a:ea typeface="Calibri" pitchFamily="34" charset="-122"/>
                <a:cs typeface="Calibri" pitchFamily="34" charset="-120"/>
              </a:rPr>
              <a:t>Blend the symbolic core with a learned utility estimator to refine plan scoring over time.</a:t>
            </a:r>
            <a:endParaRPr lang="en-US" sz="1000" dirty="0"/>
          </a:p>
        </p:txBody>
      </p:sp>
      <p:sp>
        <p:nvSpPr>
          <p:cNvPr id="12" name="Shape 10"/>
          <p:cNvSpPr/>
          <p:nvPr/>
        </p:nvSpPr>
        <p:spPr>
          <a:xfrm>
            <a:off x="4288536" y="164592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13" name="Shape 11"/>
          <p:cNvSpPr/>
          <p:nvPr/>
        </p:nvSpPr>
        <p:spPr>
          <a:xfrm>
            <a:off x="4517136" y="1874520"/>
            <a:ext cx="457200" cy="457200"/>
          </a:xfrm>
          <a:prstGeom prst="hexagon">
            <a:avLst/>
          </a:prstGeom>
          <a:solidFill>
            <a:srgbClr val="00E5FF"/>
          </a:solidFill>
          <a:ln/>
        </p:spPr>
      </p:sp>
      <p:sp>
        <p:nvSpPr>
          <p:cNvPr id="14" name="Text 12"/>
          <p:cNvSpPr txBox="1"/>
          <p:nvPr/>
        </p:nvSpPr>
        <p:spPr>
          <a:xfrm>
            <a:off x="4517136" y="1874520"/>
            <a:ext cx="457200" cy="457200"/>
          </a:xfrm>
          <a:prstGeom prst="rect">
            <a:avLst/>
          </a:prstGeom>
          <a:noFill/>
          <a:ln/>
        </p:spPr>
        <p:txBody>
          <a:bodyPr wrap="square" lIns="0" tIns="0" rIns="0" bIns="0" rtlCol="0" anchor="ctr"/>
          <a:lstStyle/>
          <a:p>
            <a:pPr algn="ctr" indent="0" marL="0">
              <a:buNone/>
            </a:pPr>
            <a:r>
              <a:rPr lang="en-US" sz="1300" b="1" dirty="0">
                <a:solidFill>
                  <a:srgbClr val="0B0B1E"/>
                </a:solidFill>
                <a:latin typeface="Arial" pitchFamily="34" charset="0"/>
                <a:ea typeface="Arial" pitchFamily="34" charset="-122"/>
                <a:cs typeface="Arial" pitchFamily="34" charset="-120"/>
              </a:rPr>
              <a:t>+</a:t>
            </a:r>
            <a:endParaRPr lang="en-US" sz="1300" dirty="0"/>
          </a:p>
        </p:txBody>
      </p:sp>
      <p:sp>
        <p:nvSpPr>
          <p:cNvPr id="15" name="Text 13"/>
          <p:cNvSpPr txBox="1"/>
          <p:nvPr/>
        </p:nvSpPr>
        <p:spPr>
          <a:xfrm>
            <a:off x="4517136" y="2514600"/>
            <a:ext cx="3154680" cy="411480"/>
          </a:xfrm>
          <a:prstGeom prst="rect">
            <a:avLst/>
          </a:prstGeom>
          <a:noFill/>
          <a:ln/>
        </p:spPr>
        <p:txBody>
          <a:bodyPr wrap="square" lIns="0" tIns="0" rIns="0" bIns="0" rtlCol="0" anchor="ctr"/>
          <a:lstStyle/>
          <a:p>
            <a:pPr indent="0" marL="0">
              <a:buNone/>
            </a:pPr>
            <a:r>
              <a:rPr lang="en-US" sz="1300" b="1" dirty="0">
                <a:solidFill>
                  <a:srgbClr val="F3F1FF"/>
                </a:solidFill>
                <a:latin typeface="Arial" pitchFamily="34" charset="0"/>
                <a:ea typeface="Arial" pitchFamily="34" charset="-122"/>
                <a:cs typeface="Arial" pitchFamily="34" charset="-120"/>
              </a:rPr>
              <a:t>Multiplayer PvP Balancing</a:t>
            </a:r>
            <a:endParaRPr lang="en-US" sz="1300" dirty="0"/>
          </a:p>
        </p:txBody>
      </p:sp>
      <p:sp>
        <p:nvSpPr>
          <p:cNvPr id="16" name="Text 14"/>
          <p:cNvSpPr txBox="1"/>
          <p:nvPr/>
        </p:nvSpPr>
        <p:spPr>
          <a:xfrm>
            <a:off x="4517136" y="2907792"/>
            <a:ext cx="3154680" cy="521208"/>
          </a:xfrm>
          <a:prstGeom prst="rect">
            <a:avLst/>
          </a:prstGeom>
          <a:noFill/>
          <a:ln/>
        </p:spPr>
        <p:txBody>
          <a:bodyPr wrap="square" lIns="0" tIns="0" rIns="0" bIns="0" rtlCol="0" anchor="ctr"/>
          <a:lstStyle/>
          <a:p>
            <a:pPr indent="0" marL="0">
              <a:lnSpc>
                <a:spcPct val="112000"/>
              </a:lnSpc>
              <a:buNone/>
            </a:pPr>
            <a:r>
              <a:rPr lang="en-US" sz="1000" dirty="0">
                <a:solidFill>
                  <a:srgbClr val="ABA6D6"/>
                </a:solidFill>
                <a:latin typeface="Calibri" pitchFamily="34" charset="0"/>
                <a:ea typeface="Calibri" pitchFamily="34" charset="-122"/>
                <a:cs typeface="Calibri" pitchFamily="34" charset="-120"/>
              </a:rPr>
              <a:t>Extend the difficulty adapter to referee live player-vs-player tactical matches.</a:t>
            </a:r>
            <a:endParaRPr lang="en-US" sz="1000" dirty="0"/>
          </a:p>
        </p:txBody>
      </p:sp>
      <p:sp>
        <p:nvSpPr>
          <p:cNvPr id="17" name="Shape 15"/>
          <p:cNvSpPr/>
          <p:nvPr/>
        </p:nvSpPr>
        <p:spPr>
          <a:xfrm>
            <a:off x="8119872" y="1645920"/>
            <a:ext cx="3611880" cy="1965960"/>
          </a:xfrm>
          <a:prstGeom prst="roundRect">
            <a:avLst>
              <a:gd name="adj" fmla="val 3721"/>
            </a:avLst>
          </a:prstGeom>
          <a:solidFill>
            <a:srgbClr val="16163A"/>
          </a:solidFill>
          <a:ln/>
          <a:effectLst>
            <a:outerShdw sx="100000" sy="100000" kx="0" ky="0" algn="bl" rotWithShape="0" blurRad="101600" dist="38100" dir="5400000">
              <a:srgbClr val="000000">
                <a:alpha val="35000"/>
              </a:srgbClr>
            </a:outerShdw>
          </a:effectLst>
        </p:spPr>
      </p:sp>
      <p:sp>
        <p:nvSpPr>
          <p:cNvPr id="18" name="Shape 16"/>
          <p:cNvSpPr/>
          <p:nvPr/>
        </p:nvSpPr>
        <p:spPr>
          <a:xfrm>
            <a:off x="8348472" y="1874520"/>
            <a:ext cx="457200" cy="457200"/>
          </a:xfrm>
          <a:prstGeom prst="hexagon">
            <a:avLst/>
          </a:prstGeom>
          <a:solidFill>
            <a:srgbClr val="00E5FF"/>
          </a:solidFill>
          <a:ln/>
        </p:spPr>
      </p:sp>
      <p:sp>
        <p:nvSpPr>
          <p:cNvPr id="19" name="Text 17"/>
          <p:cNvSpPr txBox="1"/>
          <p:nvPr/>
        </p:nvSpPr>
        <p:spPr>
          <a:xfrm>
            <a:off x="8348472" y="1874520"/>
            <a:ext cx="457200" cy="457200"/>
          </a:xfrm>
          <a:prstGeom prst="rect">
            <a:avLst/>
          </a:prstGeom>
          <a:noFill/>
          <a:ln/>
        </p:spPr>
        <p:txBody>
          <a:bodyPr wrap="square" lIns="0" tIns="0" rIns="0" bIns="0" rtlCol="0" anchor="ctr"/>
          <a:lstStyle/>
          <a:p>
            <a:pPr algn="ctr" indent="0" marL="0">
              <a:buNone/>
            </a:pPr>
            <a:r>
              <a:rPr lang="en-US" sz="1300" b="1" dirty="0">
                <a:solidFill>
                  <a:srgbClr val="0B0B1E"/>
                </a:solidFill>
                <a:latin typeface="Arial" pitchFamily="34" charset="0"/>
                <a:ea typeface="Arial" pitchFamily="34" charset="-122"/>
                <a:cs typeface="Arial" pitchFamily="34" charset="-120"/>
              </a:rPr>
              <a:t>+</a:t>
            </a:r>
            <a:endParaRPr lang="en-US" sz="1300" dirty="0"/>
          </a:p>
        </p:txBody>
      </p:sp>
      <p:sp>
        <p:nvSpPr>
          <p:cNvPr id="20" name="Text 18"/>
          <p:cNvSpPr txBox="1"/>
          <p:nvPr/>
        </p:nvSpPr>
        <p:spPr>
          <a:xfrm>
            <a:off x="8348472" y="2514600"/>
            <a:ext cx="3154680" cy="411480"/>
          </a:xfrm>
          <a:prstGeom prst="rect">
            <a:avLst/>
          </a:prstGeom>
          <a:noFill/>
          <a:ln/>
        </p:spPr>
        <p:txBody>
          <a:bodyPr wrap="square" lIns="0" tIns="0" rIns="0" bIns="0" rtlCol="0" anchor="ctr"/>
          <a:lstStyle/>
          <a:p>
            <a:pPr indent="0" marL="0">
              <a:buNone/>
            </a:pPr>
            <a:r>
              <a:rPr lang="en-US" sz="1300" b="1" dirty="0">
                <a:solidFill>
                  <a:srgbClr val="F3F1FF"/>
                </a:solidFill>
                <a:latin typeface="Arial" pitchFamily="34" charset="0"/>
                <a:ea typeface="Arial" pitchFamily="34" charset="-122"/>
                <a:cs typeface="Arial" pitchFamily="34" charset="-120"/>
              </a:rPr>
              <a:t>Natural-Language Narration</a:t>
            </a:r>
            <a:endParaRPr lang="en-US" sz="1300" dirty="0"/>
          </a:p>
        </p:txBody>
      </p:sp>
      <p:sp>
        <p:nvSpPr>
          <p:cNvPr id="21" name="Text 19"/>
          <p:cNvSpPr txBox="1"/>
          <p:nvPr/>
        </p:nvSpPr>
        <p:spPr>
          <a:xfrm>
            <a:off x="8348472" y="2907792"/>
            <a:ext cx="3154680" cy="521208"/>
          </a:xfrm>
          <a:prstGeom prst="rect">
            <a:avLst/>
          </a:prstGeom>
          <a:noFill/>
          <a:ln/>
        </p:spPr>
        <p:txBody>
          <a:bodyPr wrap="square" lIns="0" tIns="0" rIns="0" bIns="0" rtlCol="0" anchor="ctr"/>
          <a:lstStyle/>
          <a:p>
            <a:pPr indent="0" marL="0">
              <a:lnSpc>
                <a:spcPct val="112000"/>
              </a:lnSpc>
              <a:buNone/>
            </a:pPr>
            <a:r>
              <a:rPr lang="en-US" sz="1000" dirty="0">
                <a:solidFill>
                  <a:srgbClr val="ABA6D6"/>
                </a:solidFill>
                <a:latin typeface="Calibri" pitchFamily="34" charset="0"/>
                <a:ea typeface="Calibri" pitchFamily="34" charset="-122"/>
                <a:cs typeface="Calibri" pitchFamily="34" charset="-120"/>
              </a:rPr>
              <a:t>Turn the explanation log into in-game narrator commentary using template-guided generation.</a:t>
            </a:r>
            <a:endParaRPr lang="en-US" sz="1000" dirty="0"/>
          </a:p>
        </p:txBody>
      </p:sp>
      <p:sp>
        <p:nvSpPr>
          <p:cNvPr id="22" name="Shape 20"/>
          <p:cNvSpPr/>
          <p:nvPr/>
        </p:nvSpPr>
        <p:spPr>
          <a:xfrm>
            <a:off x="457200" y="3840480"/>
            <a:ext cx="3611880" cy="1965960"/>
          </a:xfrm>
          <a:prstGeom prst="roundRect">
            <a:avLst>
              <a:gd name="adj" fmla="val 3721"/>
            </a:avLst>
          </a:prstGeom>
          <a:solidFill>
            <a:srgbClr val="1D1D48"/>
          </a:solidFill>
          <a:ln/>
          <a:effectLst>
            <a:outerShdw sx="100000" sy="100000" kx="0" ky="0" algn="bl" rotWithShape="0" blurRad="101600" dist="38100" dir="5400000">
              <a:srgbClr val="000000">
                <a:alpha val="35000"/>
              </a:srgbClr>
            </a:outerShdw>
          </a:effectLst>
        </p:spPr>
      </p:sp>
      <p:sp>
        <p:nvSpPr>
          <p:cNvPr id="23" name="Shape 21"/>
          <p:cNvSpPr/>
          <p:nvPr/>
        </p:nvSpPr>
        <p:spPr>
          <a:xfrm>
            <a:off x="685800" y="4069080"/>
            <a:ext cx="457200" cy="457200"/>
          </a:xfrm>
          <a:prstGeom prst="hexagon">
            <a:avLst/>
          </a:prstGeom>
          <a:solidFill>
            <a:srgbClr val="00E5FF"/>
          </a:solidFill>
          <a:ln/>
        </p:spPr>
      </p:sp>
      <p:sp>
        <p:nvSpPr>
          <p:cNvPr id="24" name="Text 22"/>
          <p:cNvSpPr txBox="1"/>
          <p:nvPr/>
        </p:nvSpPr>
        <p:spPr>
          <a:xfrm>
            <a:off x="685800" y="4069080"/>
            <a:ext cx="457200" cy="457200"/>
          </a:xfrm>
          <a:prstGeom prst="rect">
            <a:avLst/>
          </a:prstGeom>
          <a:noFill/>
          <a:ln/>
        </p:spPr>
        <p:txBody>
          <a:bodyPr wrap="square" lIns="0" tIns="0" rIns="0" bIns="0" rtlCol="0" anchor="ctr"/>
          <a:lstStyle/>
          <a:p>
            <a:pPr algn="ctr" indent="0" marL="0">
              <a:buNone/>
            </a:pPr>
            <a:r>
              <a:rPr lang="en-US" sz="1300" b="1" dirty="0">
                <a:solidFill>
                  <a:srgbClr val="0B0B1E"/>
                </a:solidFill>
                <a:latin typeface="Arial" pitchFamily="34" charset="0"/>
                <a:ea typeface="Arial" pitchFamily="34" charset="-122"/>
                <a:cs typeface="Arial" pitchFamily="34" charset="-120"/>
              </a:rPr>
              <a:t>+</a:t>
            </a:r>
            <a:endParaRPr lang="en-US" sz="1300" dirty="0"/>
          </a:p>
        </p:txBody>
      </p:sp>
      <p:sp>
        <p:nvSpPr>
          <p:cNvPr id="25" name="Text 23"/>
          <p:cNvSpPr txBox="1"/>
          <p:nvPr/>
        </p:nvSpPr>
        <p:spPr>
          <a:xfrm>
            <a:off x="685800" y="4709160"/>
            <a:ext cx="3154680" cy="411480"/>
          </a:xfrm>
          <a:prstGeom prst="rect">
            <a:avLst/>
          </a:prstGeom>
          <a:noFill/>
          <a:ln/>
        </p:spPr>
        <p:txBody>
          <a:bodyPr wrap="square" lIns="0" tIns="0" rIns="0" bIns="0" rtlCol="0" anchor="ctr"/>
          <a:lstStyle/>
          <a:p>
            <a:pPr indent="0" marL="0">
              <a:buNone/>
            </a:pPr>
            <a:r>
              <a:rPr lang="en-US" sz="1300" b="1" dirty="0">
                <a:solidFill>
                  <a:srgbClr val="F3F1FF"/>
                </a:solidFill>
                <a:latin typeface="Arial" pitchFamily="34" charset="0"/>
                <a:ea typeface="Arial" pitchFamily="34" charset="-122"/>
                <a:cs typeface="Arial" pitchFamily="34" charset="-120"/>
              </a:rPr>
              <a:t>Rule-Weight Learning</a:t>
            </a:r>
            <a:endParaRPr lang="en-US" sz="1300" dirty="0"/>
          </a:p>
        </p:txBody>
      </p:sp>
      <p:sp>
        <p:nvSpPr>
          <p:cNvPr id="26" name="Text 24"/>
          <p:cNvSpPr txBox="1"/>
          <p:nvPr/>
        </p:nvSpPr>
        <p:spPr>
          <a:xfrm>
            <a:off x="685800" y="5102352"/>
            <a:ext cx="3154680" cy="521208"/>
          </a:xfrm>
          <a:prstGeom prst="rect">
            <a:avLst/>
          </a:prstGeom>
          <a:noFill/>
          <a:ln/>
        </p:spPr>
        <p:txBody>
          <a:bodyPr wrap="square" lIns="0" tIns="0" rIns="0" bIns="0" rtlCol="0" anchor="ctr"/>
          <a:lstStyle/>
          <a:p>
            <a:pPr indent="0" marL="0">
              <a:lnSpc>
                <a:spcPct val="112000"/>
              </a:lnSpc>
              <a:buNone/>
            </a:pPr>
            <a:r>
              <a:rPr lang="en-US" sz="1000" dirty="0">
                <a:solidFill>
                  <a:srgbClr val="ABA6D6"/>
                </a:solidFill>
                <a:latin typeface="Calibri" pitchFamily="34" charset="0"/>
                <a:ea typeface="Calibri" pitchFamily="34" charset="-122"/>
                <a:cs typeface="Calibri" pitchFamily="34" charset="-120"/>
              </a:rPr>
              <a:t>Use reinforcement signals from playtests to auto-tune rule priorities instead of manual authoring.</a:t>
            </a:r>
            <a:endParaRPr lang="en-US" sz="1000" dirty="0"/>
          </a:p>
        </p:txBody>
      </p:sp>
      <p:sp>
        <p:nvSpPr>
          <p:cNvPr id="27" name="Shape 25"/>
          <p:cNvSpPr/>
          <p:nvPr/>
        </p:nvSpPr>
        <p:spPr>
          <a:xfrm>
            <a:off x="4288536" y="3840480"/>
            <a:ext cx="3611880" cy="1965960"/>
          </a:xfrm>
          <a:prstGeom prst="roundRect">
            <a:avLst>
              <a:gd name="adj" fmla="val 3721"/>
            </a:avLst>
          </a:prstGeom>
          <a:solidFill>
            <a:srgbClr val="1D1D48"/>
          </a:solidFill>
          <a:ln/>
          <a:effectLst>
            <a:outerShdw sx="100000" sy="100000" kx="0" ky="0" algn="bl" rotWithShape="0" blurRad="101600" dist="38100" dir="5400000">
              <a:srgbClr val="000000">
                <a:alpha val="35000"/>
              </a:srgbClr>
            </a:outerShdw>
          </a:effectLst>
        </p:spPr>
      </p:sp>
      <p:sp>
        <p:nvSpPr>
          <p:cNvPr id="28" name="Shape 26"/>
          <p:cNvSpPr/>
          <p:nvPr/>
        </p:nvSpPr>
        <p:spPr>
          <a:xfrm>
            <a:off x="4517136" y="4069080"/>
            <a:ext cx="457200" cy="457200"/>
          </a:xfrm>
          <a:prstGeom prst="hexagon">
            <a:avLst/>
          </a:prstGeom>
          <a:solidFill>
            <a:srgbClr val="00E5FF"/>
          </a:solidFill>
          <a:ln/>
        </p:spPr>
      </p:sp>
      <p:sp>
        <p:nvSpPr>
          <p:cNvPr id="29" name="Text 27"/>
          <p:cNvSpPr txBox="1"/>
          <p:nvPr/>
        </p:nvSpPr>
        <p:spPr>
          <a:xfrm>
            <a:off x="4517136" y="4069080"/>
            <a:ext cx="457200" cy="457200"/>
          </a:xfrm>
          <a:prstGeom prst="rect">
            <a:avLst/>
          </a:prstGeom>
          <a:noFill/>
          <a:ln/>
        </p:spPr>
        <p:txBody>
          <a:bodyPr wrap="square" lIns="0" tIns="0" rIns="0" bIns="0" rtlCol="0" anchor="ctr"/>
          <a:lstStyle/>
          <a:p>
            <a:pPr algn="ctr" indent="0" marL="0">
              <a:buNone/>
            </a:pPr>
            <a:r>
              <a:rPr lang="en-US" sz="1300" b="1" dirty="0">
                <a:solidFill>
                  <a:srgbClr val="0B0B1E"/>
                </a:solidFill>
                <a:latin typeface="Arial" pitchFamily="34" charset="0"/>
                <a:ea typeface="Arial" pitchFamily="34" charset="-122"/>
                <a:cs typeface="Arial" pitchFamily="34" charset="-120"/>
              </a:rPr>
              <a:t>+</a:t>
            </a:r>
            <a:endParaRPr lang="en-US" sz="1300" dirty="0"/>
          </a:p>
        </p:txBody>
      </p:sp>
      <p:sp>
        <p:nvSpPr>
          <p:cNvPr id="30" name="Text 28"/>
          <p:cNvSpPr txBox="1"/>
          <p:nvPr/>
        </p:nvSpPr>
        <p:spPr>
          <a:xfrm>
            <a:off x="4517136" y="4709160"/>
            <a:ext cx="3154680" cy="411480"/>
          </a:xfrm>
          <a:prstGeom prst="rect">
            <a:avLst/>
          </a:prstGeom>
          <a:noFill/>
          <a:ln/>
        </p:spPr>
        <p:txBody>
          <a:bodyPr wrap="square" lIns="0" tIns="0" rIns="0" bIns="0" rtlCol="0" anchor="ctr"/>
          <a:lstStyle/>
          <a:p>
            <a:pPr indent="0" marL="0">
              <a:buNone/>
            </a:pPr>
            <a:r>
              <a:rPr lang="en-US" sz="1300" b="1" dirty="0">
                <a:solidFill>
                  <a:srgbClr val="F3F1FF"/>
                </a:solidFill>
                <a:latin typeface="Arial" pitchFamily="34" charset="0"/>
                <a:ea typeface="Arial" pitchFamily="34" charset="-122"/>
                <a:cs typeface="Arial" pitchFamily="34" charset="-120"/>
              </a:rPr>
              <a:t>Procedural Dungeon Integration</a:t>
            </a:r>
            <a:endParaRPr lang="en-US" sz="1300" dirty="0"/>
          </a:p>
        </p:txBody>
      </p:sp>
      <p:sp>
        <p:nvSpPr>
          <p:cNvPr id="31" name="Text 29"/>
          <p:cNvSpPr txBox="1"/>
          <p:nvPr/>
        </p:nvSpPr>
        <p:spPr>
          <a:xfrm>
            <a:off x="4517136" y="5102352"/>
            <a:ext cx="3154680" cy="521208"/>
          </a:xfrm>
          <a:prstGeom prst="rect">
            <a:avLst/>
          </a:prstGeom>
          <a:noFill/>
          <a:ln/>
        </p:spPr>
        <p:txBody>
          <a:bodyPr wrap="square" lIns="0" tIns="0" rIns="0" bIns="0" rtlCol="0" anchor="ctr"/>
          <a:lstStyle/>
          <a:p>
            <a:pPr indent="0" marL="0">
              <a:lnSpc>
                <a:spcPct val="112000"/>
              </a:lnSpc>
              <a:buNone/>
            </a:pPr>
            <a:r>
              <a:rPr lang="en-US" sz="1000" dirty="0">
                <a:solidFill>
                  <a:srgbClr val="ABA6D6"/>
                </a:solidFill>
                <a:latin typeface="Calibri" pitchFamily="34" charset="0"/>
                <a:ea typeface="Calibri" pitchFamily="34" charset="-122"/>
                <a:cs typeface="Calibri" pitchFamily="34" charset="-120"/>
              </a:rPr>
              <a:t>Feed Game-Master difficulty state into level generation for encounter-level pacing.</a:t>
            </a:r>
            <a:endParaRPr lang="en-US" sz="1000" dirty="0"/>
          </a:p>
        </p:txBody>
      </p:sp>
      <p:sp>
        <p:nvSpPr>
          <p:cNvPr id="32" name="Shape 30"/>
          <p:cNvSpPr/>
          <p:nvPr/>
        </p:nvSpPr>
        <p:spPr>
          <a:xfrm>
            <a:off x="8119872" y="3840480"/>
            <a:ext cx="3611880" cy="1965960"/>
          </a:xfrm>
          <a:prstGeom prst="roundRect">
            <a:avLst>
              <a:gd name="adj" fmla="val 3721"/>
            </a:avLst>
          </a:prstGeom>
          <a:solidFill>
            <a:srgbClr val="1D1D48"/>
          </a:solidFill>
          <a:ln/>
          <a:effectLst>
            <a:outerShdw sx="100000" sy="100000" kx="0" ky="0" algn="bl" rotWithShape="0" blurRad="101600" dist="38100" dir="5400000">
              <a:srgbClr val="000000">
                <a:alpha val="35000"/>
              </a:srgbClr>
            </a:outerShdw>
          </a:effectLst>
        </p:spPr>
      </p:sp>
      <p:sp>
        <p:nvSpPr>
          <p:cNvPr id="33" name="Shape 31"/>
          <p:cNvSpPr/>
          <p:nvPr/>
        </p:nvSpPr>
        <p:spPr>
          <a:xfrm>
            <a:off x="8348472" y="4069080"/>
            <a:ext cx="457200" cy="457200"/>
          </a:xfrm>
          <a:prstGeom prst="hexagon">
            <a:avLst/>
          </a:prstGeom>
          <a:solidFill>
            <a:srgbClr val="00E5FF"/>
          </a:solidFill>
          <a:ln/>
        </p:spPr>
      </p:sp>
      <p:sp>
        <p:nvSpPr>
          <p:cNvPr id="34" name="Text 32"/>
          <p:cNvSpPr txBox="1"/>
          <p:nvPr/>
        </p:nvSpPr>
        <p:spPr>
          <a:xfrm>
            <a:off x="8348472" y="4069080"/>
            <a:ext cx="457200" cy="457200"/>
          </a:xfrm>
          <a:prstGeom prst="rect">
            <a:avLst/>
          </a:prstGeom>
          <a:noFill/>
          <a:ln/>
        </p:spPr>
        <p:txBody>
          <a:bodyPr wrap="square" lIns="0" tIns="0" rIns="0" bIns="0" rtlCol="0" anchor="ctr"/>
          <a:lstStyle/>
          <a:p>
            <a:pPr algn="ctr" indent="0" marL="0">
              <a:buNone/>
            </a:pPr>
            <a:r>
              <a:rPr lang="en-US" sz="1300" b="1" dirty="0">
                <a:solidFill>
                  <a:srgbClr val="0B0B1E"/>
                </a:solidFill>
                <a:latin typeface="Arial" pitchFamily="34" charset="0"/>
                <a:ea typeface="Arial" pitchFamily="34" charset="-122"/>
                <a:cs typeface="Arial" pitchFamily="34" charset="-120"/>
              </a:rPr>
              <a:t>+</a:t>
            </a:r>
            <a:endParaRPr lang="en-US" sz="1300" dirty="0"/>
          </a:p>
        </p:txBody>
      </p:sp>
      <p:sp>
        <p:nvSpPr>
          <p:cNvPr id="35" name="Text 33"/>
          <p:cNvSpPr txBox="1"/>
          <p:nvPr/>
        </p:nvSpPr>
        <p:spPr>
          <a:xfrm>
            <a:off x="8348472" y="4709160"/>
            <a:ext cx="3154680" cy="411480"/>
          </a:xfrm>
          <a:prstGeom prst="rect">
            <a:avLst/>
          </a:prstGeom>
          <a:noFill/>
          <a:ln/>
        </p:spPr>
        <p:txBody>
          <a:bodyPr wrap="square" lIns="0" tIns="0" rIns="0" bIns="0" rtlCol="0" anchor="ctr"/>
          <a:lstStyle/>
          <a:p>
            <a:pPr indent="0" marL="0">
              <a:buNone/>
            </a:pPr>
            <a:r>
              <a:rPr lang="en-US" sz="1300" b="1" dirty="0">
                <a:solidFill>
                  <a:srgbClr val="F3F1FF"/>
                </a:solidFill>
                <a:latin typeface="Arial" pitchFamily="34" charset="0"/>
                <a:ea typeface="Arial" pitchFamily="34" charset="-122"/>
                <a:cs typeface="Arial" pitchFamily="34" charset="-120"/>
              </a:rPr>
              <a:t>Larger-Scale Squad Tactics</a:t>
            </a:r>
            <a:endParaRPr lang="en-US" sz="1300" dirty="0"/>
          </a:p>
        </p:txBody>
      </p:sp>
      <p:sp>
        <p:nvSpPr>
          <p:cNvPr id="36" name="Text 34"/>
          <p:cNvSpPr txBox="1"/>
          <p:nvPr/>
        </p:nvSpPr>
        <p:spPr>
          <a:xfrm>
            <a:off x="8348472" y="5102352"/>
            <a:ext cx="3154680" cy="521208"/>
          </a:xfrm>
          <a:prstGeom prst="rect">
            <a:avLst/>
          </a:prstGeom>
          <a:noFill/>
          <a:ln/>
        </p:spPr>
        <p:txBody>
          <a:bodyPr wrap="square" lIns="0" tIns="0" rIns="0" bIns="0" rtlCol="0" anchor="ctr"/>
          <a:lstStyle/>
          <a:p>
            <a:pPr indent="0" marL="0">
              <a:lnSpc>
                <a:spcPct val="112000"/>
              </a:lnSpc>
              <a:buNone/>
            </a:pPr>
            <a:r>
              <a:rPr lang="en-US" sz="1000" dirty="0">
                <a:solidFill>
                  <a:srgbClr val="ABA6D6"/>
                </a:solidFill>
                <a:latin typeface="Calibri" pitchFamily="34" charset="0"/>
                <a:ea typeface="Calibri" pitchFamily="34" charset="-122"/>
                <a:cs typeface="Calibri" pitchFamily="34" charset="-120"/>
              </a:rPr>
              <a:t>Generalise the planner from single skirmishes to multi-squad, multi-objective battles.</a:t>
            </a:r>
            <a:endParaRPr lang="en-US" sz="1000" dirty="0"/>
          </a:p>
        </p:txBody>
      </p:sp>
      <p:sp>
        <p:nvSpPr>
          <p:cNvPr id="37" name="Text 35"/>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SECTION 9 · FUTURE ENHANCEMENT</a:t>
            </a:r>
            <a:endParaRPr lang="en-US" sz="900" dirty="0"/>
          </a:p>
        </p:txBody>
      </p:sp>
      <p:sp>
        <p:nvSpPr>
          <p:cNvPr id="38" name="Text 36"/>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39" name="Text 37"/>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1E"/>
        </a:solidFill>
      </p:bgPr>
    </p:bg>
    <p:spTree>
      <p:nvGrpSpPr>
        <p:cNvPr id="1" name=""/>
        <p:cNvGrpSpPr/>
        <p:nvPr/>
      </p:nvGrpSpPr>
      <p:grpSpPr>
        <a:xfrm>
          <a:off x="0" y="0"/>
          <a:ext cx="0" cy="0"/>
          <a:chOff x="0" y="0"/>
          <a:chExt cx="0" cy="0"/>
        </a:xfrm>
      </p:grpSpPr>
      <p:sp>
        <p:nvSpPr>
          <p:cNvPr id="2" name="Shape 0"/>
          <p:cNvSpPr/>
          <p:nvPr/>
        </p:nvSpPr>
        <p:spPr>
          <a:xfrm>
            <a:off x="9875520" y="548640"/>
            <a:ext cx="914400" cy="914400"/>
          </a:xfrm>
          <a:prstGeom prst="hexagon">
            <a:avLst/>
          </a:prstGeom>
          <a:solidFill>
            <a:srgbClr val="16163A"/>
          </a:solidFill>
          <a:ln w="12700">
            <a:solidFill>
              <a:srgbClr val="33335C"/>
            </a:solidFill>
            <a:prstDash val="solid"/>
          </a:ln>
        </p:spPr>
      </p:sp>
      <p:sp>
        <p:nvSpPr>
          <p:cNvPr id="3" name="Shape 1"/>
          <p:cNvSpPr/>
          <p:nvPr/>
        </p:nvSpPr>
        <p:spPr>
          <a:xfrm>
            <a:off x="274320" y="5212080"/>
            <a:ext cx="777240" cy="777240"/>
          </a:xfrm>
          <a:prstGeom prst="hexagon">
            <a:avLst/>
          </a:prstGeom>
          <a:solidFill>
            <a:srgbClr val="16163A"/>
          </a:solidFill>
          <a:ln w="12700">
            <a:solidFill>
              <a:srgbClr val="33335C"/>
            </a:solidFill>
            <a:prstDash val="solid"/>
          </a:ln>
        </p:spPr>
      </p:sp>
      <p:sp>
        <p:nvSpPr>
          <p:cNvPr id="4" name="Shape 2"/>
          <p:cNvSpPr/>
          <p:nvPr/>
        </p:nvSpPr>
        <p:spPr>
          <a:xfrm>
            <a:off x="10972800" y="5029200"/>
            <a:ext cx="640080" cy="640080"/>
          </a:xfrm>
          <a:prstGeom prst="hexagon">
            <a:avLst/>
          </a:prstGeom>
          <a:solidFill>
            <a:srgbClr val="16163A"/>
          </a:solidFill>
          <a:ln w="12700">
            <a:solidFill>
              <a:srgbClr val="33335C"/>
            </a:solidFill>
            <a:prstDash val="solid"/>
          </a:ln>
        </p:spPr>
      </p:sp>
      <p:sp>
        <p:nvSpPr>
          <p:cNvPr id="5" name="Shape 3"/>
          <p:cNvSpPr/>
          <p:nvPr/>
        </p:nvSpPr>
        <p:spPr>
          <a:xfrm>
            <a:off x="-274320" y="365760"/>
            <a:ext cx="822960" cy="822960"/>
          </a:xfrm>
          <a:prstGeom prst="hexagon">
            <a:avLst/>
          </a:prstGeom>
          <a:solidFill>
            <a:srgbClr val="16163A"/>
          </a:solidFill>
          <a:ln w="12700">
            <a:solidFill>
              <a:srgbClr val="33335C"/>
            </a:solidFill>
            <a:prstDash val="solid"/>
          </a:ln>
        </p:spPr>
      </p:sp>
      <p:sp>
        <p:nvSpPr>
          <p:cNvPr id="6" name="Shape 4"/>
          <p:cNvSpPr/>
          <p:nvPr/>
        </p:nvSpPr>
        <p:spPr>
          <a:xfrm>
            <a:off x="5728716" y="1965960"/>
            <a:ext cx="731520" cy="731520"/>
          </a:xfrm>
          <a:prstGeom prst="hexagon">
            <a:avLst/>
          </a:prstGeom>
          <a:solidFill>
            <a:srgbClr val="7B2FF7"/>
          </a:solidFill>
          <a:ln/>
        </p:spPr>
      </p:sp>
      <p:sp>
        <p:nvSpPr>
          <p:cNvPr id="7" name="Text 5"/>
          <p:cNvSpPr txBox="1"/>
          <p:nvPr/>
        </p:nvSpPr>
        <p:spPr>
          <a:xfrm>
            <a:off x="5728716" y="1965960"/>
            <a:ext cx="731520" cy="731520"/>
          </a:xfrm>
          <a:prstGeom prst="rect">
            <a:avLst/>
          </a:prstGeom>
          <a:noFill/>
          <a:ln/>
        </p:spPr>
        <p:txBody>
          <a:bodyPr wrap="square" lIns="0" tIns="0" rIns="0" bIns="0" rtlCol="0" anchor="ctr"/>
          <a:lstStyle/>
          <a:p>
            <a:pPr algn="ctr" indent="0" marL="0">
              <a:buNone/>
            </a:pPr>
            <a:r>
              <a:rPr lang="en-US" sz="2080" b="1" dirty="0">
                <a:solidFill>
                  <a:srgbClr val="00E5FF"/>
                </a:solidFill>
                <a:latin typeface="Arial" pitchFamily="34" charset="0"/>
                <a:ea typeface="Arial" pitchFamily="34" charset="-122"/>
                <a:cs typeface="Arial" pitchFamily="34" charset="-120"/>
              </a:rPr>
              <a:t>⚔</a:t>
            </a:r>
            <a:endParaRPr lang="en-US" sz="2080" dirty="0"/>
          </a:p>
        </p:txBody>
      </p:sp>
      <p:sp>
        <p:nvSpPr>
          <p:cNvPr id="8" name="Text 6"/>
          <p:cNvSpPr txBox="1"/>
          <p:nvPr/>
        </p:nvSpPr>
        <p:spPr>
          <a:xfrm>
            <a:off x="457200" y="2971800"/>
            <a:ext cx="11274552" cy="822960"/>
          </a:xfrm>
          <a:prstGeom prst="rect">
            <a:avLst/>
          </a:prstGeom>
          <a:noFill/>
          <a:ln/>
        </p:spPr>
        <p:txBody>
          <a:bodyPr wrap="square" lIns="0" tIns="0" rIns="0" bIns="0" rtlCol="0" anchor="ctr"/>
          <a:lstStyle/>
          <a:p>
            <a:pPr algn="ctr" indent="0" marL="0">
              <a:buNone/>
            </a:pPr>
            <a:r>
              <a:rPr lang="en-US" sz="4400" b="1" spc="300" kern="0" dirty="0">
                <a:solidFill>
                  <a:srgbClr val="F3F1FF"/>
                </a:solidFill>
                <a:latin typeface="Arial" pitchFamily="34" charset="0"/>
                <a:ea typeface="Arial" pitchFamily="34" charset="-122"/>
                <a:cs typeface="Arial" pitchFamily="34" charset="-120"/>
              </a:rPr>
              <a:t>THANK YOU</a:t>
            </a:r>
            <a:endParaRPr lang="en-US" sz="4400" dirty="0"/>
          </a:p>
        </p:txBody>
      </p:sp>
      <p:sp>
        <p:nvSpPr>
          <p:cNvPr id="9" name="Shape 7"/>
          <p:cNvSpPr/>
          <p:nvPr/>
        </p:nvSpPr>
        <p:spPr>
          <a:xfrm>
            <a:off x="4718304" y="3913632"/>
            <a:ext cx="2743200" cy="0"/>
          </a:xfrm>
          <a:prstGeom prst="line">
            <a:avLst/>
          </a:prstGeom>
          <a:noFill/>
          <a:ln w="25400">
            <a:solidFill>
              <a:srgbClr val="00E5FF"/>
            </a:solidFill>
            <a:prstDash val="solid"/>
          </a:ln>
        </p:spPr>
      </p:sp>
      <p:sp>
        <p:nvSpPr>
          <p:cNvPr id="10" name="Text 8"/>
          <p:cNvSpPr txBox="1"/>
          <p:nvPr/>
        </p:nvSpPr>
        <p:spPr>
          <a:xfrm>
            <a:off x="1060704" y="4069080"/>
            <a:ext cx="10058400" cy="457200"/>
          </a:xfrm>
          <a:prstGeom prst="rect">
            <a:avLst/>
          </a:prstGeom>
          <a:noFill/>
          <a:ln/>
        </p:spPr>
        <p:txBody>
          <a:bodyPr wrap="square" lIns="0" tIns="0" rIns="0" bIns="0" rtlCol="0" anchor="ctr"/>
          <a:lstStyle/>
          <a:p>
            <a:pPr algn="ctr" indent="0" marL="0">
              <a:buNone/>
            </a:pPr>
            <a:r>
              <a:rPr lang="en-US" sz="1400" dirty="0">
                <a:solidFill>
                  <a:srgbClr val="ABA6D6"/>
                </a:solidFill>
                <a:latin typeface="Calibri" pitchFamily="34" charset="0"/>
                <a:ea typeface="Calibri" pitchFamily="34" charset="-122"/>
                <a:cs typeface="Calibri" pitchFamily="34" charset="-120"/>
              </a:rPr>
              <a:t>Questions &amp; Discussion — CyberDungeon: A Symbolic AI Game Master for Dynamic Tactical Combat</a:t>
            </a:r>
            <a:endParaRPr lang="en-US" sz="1400" dirty="0"/>
          </a:p>
        </p:txBody>
      </p:sp>
      <p:sp>
        <p:nvSpPr>
          <p:cNvPr id="11" name="Text 9"/>
          <p:cNvSpPr txBox="1"/>
          <p:nvPr/>
        </p:nvSpPr>
        <p:spPr>
          <a:xfrm>
            <a:off x="457200" y="6528816"/>
            <a:ext cx="8229600" cy="274320"/>
          </a:xfrm>
          <a:prstGeom prst="rect">
            <a:avLst/>
          </a:prstGeom>
          <a:noFill/>
          <a:ln/>
        </p:spPr>
        <p:txBody>
          <a:bodyPr wrap="square" lIns="0" tIns="0" rIns="0" bIns="0" rtlCol="0" anchor="ctr"/>
          <a:lstStyle/>
          <a:p>
            <a:pPr indent="0" marL="0">
              <a:buNone/>
            </a:pPr>
            <a:r>
              <a:rPr lang="en-US" sz="900" spc="200" kern="0" dirty="0">
                <a:solidFill>
                  <a:srgbClr val="ABA6D6"/>
                </a:solidFill>
                <a:latin typeface="Calibri" pitchFamily="34" charset="0"/>
                <a:ea typeface="Calibri" pitchFamily="34" charset="-122"/>
                <a:cs typeface="Calibri" pitchFamily="34" charset="-120"/>
              </a:rPr>
              <a:t>THANK YOU</a:t>
            </a:r>
            <a:endParaRPr lang="en-US" sz="900" dirty="0"/>
          </a:p>
        </p:txBody>
      </p:sp>
      <p:sp>
        <p:nvSpPr>
          <p:cNvPr id="12" name="Text 10"/>
          <p:cNvSpPr txBox="1"/>
          <p:nvPr/>
        </p:nvSpPr>
        <p:spPr>
          <a:xfrm>
            <a:off x="8686800" y="6528816"/>
            <a:ext cx="2587752" cy="274320"/>
          </a:xfrm>
          <a:prstGeom prst="rect">
            <a:avLst/>
          </a:prstGeom>
          <a:noFill/>
          <a:ln/>
        </p:spPr>
        <p:txBody>
          <a:bodyPr wrap="square" lIns="0" tIns="0" rIns="0" bIns="0" rtlCol="0" anchor="ctr"/>
          <a:lstStyle/>
          <a:p>
            <a:pPr algn="r" indent="0" marL="0">
              <a:buNone/>
            </a:pPr>
            <a:r>
              <a:rPr lang="en-US" sz="900" b="1" spc="150" kern="0" dirty="0">
                <a:solidFill>
                  <a:srgbClr val="7B2FF7"/>
                </a:solidFill>
                <a:latin typeface="Arial" pitchFamily="34" charset="0"/>
                <a:ea typeface="Arial" pitchFamily="34" charset="-122"/>
                <a:cs typeface="Arial" pitchFamily="34" charset="-120"/>
              </a:rPr>
              <a:t>CYBERDUNGEON</a:t>
            </a:r>
            <a:endParaRPr lang="en-US" sz="900" dirty="0"/>
          </a:p>
        </p:txBody>
      </p:sp>
      <p:sp>
        <p:nvSpPr>
          <p:cNvPr id="13" name="Text 11"/>
          <p:cNvSpPr txBox="1"/>
          <p:nvPr/>
        </p:nvSpPr>
        <p:spPr>
          <a:xfrm>
            <a:off x="11521440" y="320040"/>
            <a:ext cx="457200" cy="274320"/>
          </a:xfrm>
          <a:prstGeom prst="rect">
            <a:avLst/>
          </a:prstGeom>
          <a:noFill/>
          <a:ln/>
        </p:spPr>
        <p:txBody>
          <a:bodyPr wrap="square" lIns="0" tIns="0" rIns="0" bIns="0" rtlCol="0" anchor="ctr"/>
          <a:lstStyle/>
          <a:p>
            <a:pPr algn="r" indent="0" marL="0">
              <a:buNone/>
            </a:pPr>
            <a:r>
              <a:rPr lang="en-US" sz="1000" dirty="0">
                <a:solidFill>
                  <a:srgbClr val="ABA6D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2026-10-13T04:57:29Z</dcterms:created>
  <dcterms:modified xsi:type="dcterms:W3CDTF">2026-10-13T04:57:29Z</dcterms:modified>
</cp:coreProperties>
</file>